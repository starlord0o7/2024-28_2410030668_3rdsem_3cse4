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F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1188720"/>
            <a:ext cx="9875520" cy="4389120"/>
          </a:xfrm>
          <a:prstGeom prst="rect">
            <a:avLst/>
          </a:prstGeom>
          <a:noFill/>
        </p:spPr>
        <p:txBody>
          <a:bodyPr wrap="none">
            <a:spAutoFit/>
          </a:bodyPr>
          <a:lstStyle/>
          <a:p>
            <a:pPr>
              <a:spcAft>
                <a:spcPts val="800"/>
              </a:spcAft>
              <a:defRPr sz="1600" b="1">
                <a:solidFill>
                  <a:srgbClr val="B4CDE6"/>
                </a:solidFill>
              </a:defRPr>
            </a:pPr>
            <a:r>
              <a:t>INTERNSHIP REPORT PRESENTATION</a:t>
            </a:r>
          </a:p>
          <a:p>
            <a:pPr>
              <a:spcAft>
                <a:spcPts val="800"/>
              </a:spcAft>
              <a:defRPr sz="3600" b="1">
                <a:solidFill>
                  <a:srgbClr val="FFFFFF"/>
                </a:solidFill>
              </a:defRPr>
            </a:pPr>
            <a:r>
              <a:t>Full-Stack Development</a:t>
            </a:r>
          </a:p>
          <a:p>
            <a:pPr>
              <a:spcAft>
                <a:spcPts val="800"/>
              </a:spcAft>
              <a:defRPr sz="1700" b="0">
                <a:solidFill>
                  <a:srgbClr val="FFFFFF"/>
                </a:solidFill>
              </a:defRPr>
            </a:pPr>
            <a:r>
              <a:t>TaskFlow – Full-Stack Task &amp; Project Management Web Application</a:t>
            </a:r>
          </a:p>
          <a:p>
            <a:pPr>
              <a:spcAft>
                <a:spcPts val="800"/>
              </a:spcAft>
              <a:defRPr sz="1500" b="1">
                <a:solidFill>
                  <a:srgbClr val="FFFFFF"/>
                </a:solidFill>
              </a:defRPr>
            </a:pPr>
            <a:r>
              <a:t>Akshat Maurya</a:t>
            </a:r>
          </a:p>
          <a:p>
            <a:pPr>
              <a:spcAft>
                <a:spcPts val="800"/>
              </a:spcAft>
              <a:defRPr sz="1200" b="0">
                <a:solidFill>
                  <a:srgbClr val="FFFFFF"/>
                </a:solidFill>
              </a:defRPr>
            </a:pPr>
            <a:r>
              <a:t>Roll No. 2410030668 | B.Tech CSE</a:t>
            </a:r>
          </a:p>
          <a:p>
            <a:pPr>
              <a:spcAft>
                <a:spcPts val="800"/>
              </a:spcAft>
              <a:defRPr sz="1200" b="0">
                <a:solidFill>
                  <a:srgbClr val="FFFFFF"/>
                </a:solidFill>
              </a:defRPr>
            </a:pPr>
            <a:r>
              <a:t>IILM University, Greater Noida, U.P.</a:t>
            </a:r>
          </a:p>
          <a:p>
            <a:pPr>
              <a:spcAft>
                <a:spcPts val="800"/>
              </a:spcAft>
              <a:defRPr sz="1200" b="0">
                <a:solidFill>
                  <a:srgbClr val="FFFFFF"/>
                </a:solidFill>
              </a:defRPr>
            </a:pPr>
            <a:r>
              <a:t>02 August – 30 August 2026</a:t>
            </a:r>
          </a:p>
        </p:txBody>
      </p:sp>
      <p:sp>
        <p:nvSpPr>
          <p:cNvPr id="4" name="Rectangle 3"/>
          <p:cNvSpPr/>
          <p:nvPr/>
        </p:nvSpPr>
        <p:spPr>
          <a:xfrm>
            <a:off x="594360" y="6473952"/>
            <a:ext cx="10972800" cy="13716"/>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92240"/>
            <a:ext cx="10698480" cy="228600"/>
          </a:xfrm>
          <a:prstGeom prst="rect">
            <a:avLst/>
          </a:prstGeom>
          <a:noFill/>
        </p:spPr>
        <p:txBody>
          <a:bodyPr wrap="none">
            <a:spAutoFit/>
          </a:bodyPr>
          <a:lstStyle/>
          <a:p>
            <a:pPr algn="r"/>
            <a:r>
              <a:rPr sz="800">
                <a:solidFill>
                  <a:srgbClr val="626C78"/>
                </a:solidFill>
              </a:rPr>
              <a:t>FULL-STACK DEVELOPMENT INTERNSHIP • AKSHAT MAURYA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822960"/>
          </a:xfrm>
          <a:prstGeom prst="rect">
            <a:avLst/>
          </a:prstGeom>
          <a:noFill/>
        </p:spPr>
        <p:txBody>
          <a:bodyPr wrap="none">
            <a:spAutoFit/>
          </a:bodyPr>
          <a:lstStyle/>
          <a:p>
            <a:r>
              <a:rPr sz="2400" b="1">
                <a:solidFill>
                  <a:srgbClr val="121F31"/>
                </a:solidFill>
                <a:latin typeface="Aptos Display"/>
              </a:rPr>
              <a:t>ABOUT THE STUDENT</a:t>
            </a:r>
          </a:p>
        </p:txBody>
      </p:sp>
      <p:sp>
        <p:nvSpPr>
          <p:cNvPr id="4" name="TextBox 3"/>
          <p:cNvSpPr txBox="1"/>
          <p:nvPr/>
        </p:nvSpPr>
        <p:spPr>
          <a:xfrm>
            <a:off x="621792" y="960120"/>
            <a:ext cx="10789920" cy="365760"/>
          </a:xfrm>
          <a:prstGeom prst="rect">
            <a:avLst/>
          </a:prstGeom>
          <a:noFill/>
        </p:spPr>
        <p:txBody>
          <a:bodyPr wrap="none">
            <a:spAutoFit/>
          </a:bodyPr>
          <a:lstStyle/>
          <a:p>
            <a:r>
              <a:rPr sz="1200">
                <a:solidFill>
                  <a:srgbClr val="626C78"/>
                </a:solidFill>
              </a:rPr>
              <a:t>Candidate profile and internship details</a:t>
            </a:r>
          </a:p>
        </p:txBody>
      </p:sp>
      <p:sp>
        <p:nvSpPr>
          <p:cNvPr id="5" name="Rounded Rectangle 4"/>
          <p:cNvSpPr/>
          <p:nvPr/>
        </p:nvSpPr>
        <p:spPr>
          <a:xfrm>
            <a:off x="640080" y="1417320"/>
            <a:ext cx="3383280" cy="11887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118872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63624"/>
            <a:ext cx="2971800" cy="960120"/>
          </a:xfrm>
          <a:prstGeom prst="rect">
            <a:avLst/>
          </a:prstGeom>
          <a:noFill/>
        </p:spPr>
        <p:txBody>
          <a:bodyPr wrap="square">
            <a:spAutoFit/>
          </a:bodyPr>
          <a:lstStyle/>
          <a:p>
            <a:r>
              <a:rPr b="1" sz="1500">
                <a:solidFill>
                  <a:srgbClr val="121F31"/>
                </a:solidFill>
              </a:rPr>
              <a:t>Name</a:t>
            </a:r>
          </a:p>
          <a:p>
            <a:pPr>
              <a:spcBef>
                <a:spcPts val="500"/>
              </a:spcBef>
            </a:pPr>
            <a:r>
              <a:rPr sz="1100">
                <a:solidFill>
                  <a:srgbClr val="232B35"/>
                </a:solidFill>
              </a:rPr>
              <a:t>Akshat Maurya</a:t>
            </a:r>
          </a:p>
        </p:txBody>
      </p:sp>
      <p:sp>
        <p:nvSpPr>
          <p:cNvPr id="8" name="Rounded Rectangle 7"/>
          <p:cNvSpPr/>
          <p:nvPr/>
        </p:nvSpPr>
        <p:spPr>
          <a:xfrm>
            <a:off x="4343400" y="1417320"/>
            <a:ext cx="3383280" cy="11887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417320"/>
            <a:ext cx="73152" cy="118872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563624"/>
            <a:ext cx="2971800" cy="960120"/>
          </a:xfrm>
          <a:prstGeom prst="rect">
            <a:avLst/>
          </a:prstGeom>
          <a:noFill/>
        </p:spPr>
        <p:txBody>
          <a:bodyPr wrap="square">
            <a:spAutoFit/>
          </a:bodyPr>
          <a:lstStyle/>
          <a:p>
            <a:r>
              <a:rPr b="1" sz="1500">
                <a:solidFill>
                  <a:srgbClr val="121F31"/>
                </a:solidFill>
              </a:rPr>
              <a:t>Roll Number</a:t>
            </a:r>
          </a:p>
          <a:p>
            <a:pPr>
              <a:spcBef>
                <a:spcPts val="500"/>
              </a:spcBef>
            </a:pPr>
            <a:r>
              <a:rPr sz="1100">
                <a:solidFill>
                  <a:srgbClr val="232B35"/>
                </a:solidFill>
              </a:rPr>
              <a:t>2410030668</a:t>
            </a:r>
          </a:p>
        </p:txBody>
      </p:sp>
      <p:sp>
        <p:nvSpPr>
          <p:cNvPr id="11" name="Rounded Rectangle 10"/>
          <p:cNvSpPr/>
          <p:nvPr/>
        </p:nvSpPr>
        <p:spPr>
          <a:xfrm>
            <a:off x="8046719" y="1417320"/>
            <a:ext cx="3383280" cy="11887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19" y="1417320"/>
            <a:ext cx="73152" cy="118872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1563624"/>
            <a:ext cx="2971800" cy="960120"/>
          </a:xfrm>
          <a:prstGeom prst="rect">
            <a:avLst/>
          </a:prstGeom>
          <a:noFill/>
        </p:spPr>
        <p:txBody>
          <a:bodyPr wrap="square">
            <a:spAutoFit/>
          </a:bodyPr>
          <a:lstStyle/>
          <a:p>
            <a:r>
              <a:rPr b="1" sz="1500">
                <a:solidFill>
                  <a:srgbClr val="121F31"/>
                </a:solidFill>
              </a:rPr>
              <a:t>Programme</a:t>
            </a:r>
          </a:p>
          <a:p>
            <a:pPr>
              <a:spcBef>
                <a:spcPts val="500"/>
              </a:spcBef>
            </a:pPr>
            <a:r>
              <a:rPr sz="1100">
                <a:solidFill>
                  <a:srgbClr val="232B35"/>
                </a:solidFill>
              </a:rPr>
              <a:t>B.Tech CSE</a:t>
            </a:r>
          </a:p>
        </p:txBody>
      </p:sp>
      <p:sp>
        <p:nvSpPr>
          <p:cNvPr id="14" name="Rounded Rectangle 13"/>
          <p:cNvSpPr/>
          <p:nvPr/>
        </p:nvSpPr>
        <p:spPr>
          <a:xfrm>
            <a:off x="640080" y="2926080"/>
            <a:ext cx="3383280" cy="11887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926080"/>
            <a:ext cx="73152" cy="118872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072384"/>
            <a:ext cx="2971800" cy="960120"/>
          </a:xfrm>
          <a:prstGeom prst="rect">
            <a:avLst/>
          </a:prstGeom>
          <a:noFill/>
        </p:spPr>
        <p:txBody>
          <a:bodyPr wrap="square">
            <a:spAutoFit/>
          </a:bodyPr>
          <a:lstStyle/>
          <a:p>
            <a:r>
              <a:rPr b="1" sz="1500">
                <a:solidFill>
                  <a:srgbClr val="121F31"/>
                </a:solidFill>
              </a:rPr>
              <a:t>Institute</a:t>
            </a:r>
          </a:p>
          <a:p>
            <a:pPr>
              <a:spcBef>
                <a:spcPts val="500"/>
              </a:spcBef>
            </a:pPr>
            <a:r>
              <a:rPr sz="1100">
                <a:solidFill>
                  <a:srgbClr val="232B35"/>
                </a:solidFill>
              </a:rPr>
              <a:t>IILM University, Greater Noida, U.P.</a:t>
            </a:r>
          </a:p>
        </p:txBody>
      </p:sp>
      <p:sp>
        <p:nvSpPr>
          <p:cNvPr id="17" name="Rounded Rectangle 16"/>
          <p:cNvSpPr/>
          <p:nvPr/>
        </p:nvSpPr>
        <p:spPr>
          <a:xfrm>
            <a:off x="4343400" y="2926080"/>
            <a:ext cx="3383280" cy="11887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3400" y="2926080"/>
            <a:ext cx="73152" cy="118872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3072384"/>
            <a:ext cx="2971800" cy="960120"/>
          </a:xfrm>
          <a:prstGeom prst="rect">
            <a:avLst/>
          </a:prstGeom>
          <a:noFill/>
        </p:spPr>
        <p:txBody>
          <a:bodyPr wrap="square">
            <a:spAutoFit/>
          </a:bodyPr>
          <a:lstStyle/>
          <a:p>
            <a:r>
              <a:rPr b="1" sz="1500">
                <a:solidFill>
                  <a:srgbClr val="121F31"/>
                </a:solidFill>
              </a:rPr>
              <a:t>Internship Domain</a:t>
            </a:r>
          </a:p>
          <a:p>
            <a:pPr>
              <a:spcBef>
                <a:spcPts val="500"/>
              </a:spcBef>
            </a:pPr>
            <a:r>
              <a:rPr sz="1100">
                <a:solidFill>
                  <a:srgbClr val="232B35"/>
                </a:solidFill>
              </a:rPr>
              <a:t>Full-Stack Development</a:t>
            </a:r>
          </a:p>
        </p:txBody>
      </p:sp>
      <p:sp>
        <p:nvSpPr>
          <p:cNvPr id="20" name="Rounded Rectangle 19"/>
          <p:cNvSpPr/>
          <p:nvPr/>
        </p:nvSpPr>
        <p:spPr>
          <a:xfrm>
            <a:off x="8046719" y="2926080"/>
            <a:ext cx="3383280" cy="11887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19" y="2926080"/>
            <a:ext cx="73152" cy="118872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19" y="3072384"/>
            <a:ext cx="2971800" cy="960120"/>
          </a:xfrm>
          <a:prstGeom prst="rect">
            <a:avLst/>
          </a:prstGeom>
          <a:noFill/>
        </p:spPr>
        <p:txBody>
          <a:bodyPr wrap="square">
            <a:spAutoFit/>
          </a:bodyPr>
          <a:lstStyle/>
          <a:p>
            <a:r>
              <a:rPr b="1" sz="1500">
                <a:solidFill>
                  <a:srgbClr val="121F31"/>
                </a:solidFill>
              </a:rPr>
              <a:t>Duration</a:t>
            </a:r>
          </a:p>
          <a:p>
            <a:pPr>
              <a:spcBef>
                <a:spcPts val="500"/>
              </a:spcBef>
            </a:pPr>
            <a:r>
              <a:rPr sz="1100">
                <a:solidFill>
                  <a:srgbClr val="232B35"/>
                </a:solidFill>
              </a:rPr>
              <a:t>02-08-2026 to 30-08-2026</a:t>
            </a:r>
          </a:p>
        </p:txBody>
      </p:sp>
      <p:sp>
        <p:nvSpPr>
          <p:cNvPr id="23" name="Rounded Rectangle 22"/>
          <p:cNvSpPr/>
          <p:nvPr/>
        </p:nvSpPr>
        <p:spPr>
          <a:xfrm>
            <a:off x="640080" y="4572000"/>
            <a:ext cx="10927080" cy="9601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4572000"/>
            <a:ext cx="73152" cy="96012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718304"/>
            <a:ext cx="10515600" cy="731520"/>
          </a:xfrm>
          <a:prstGeom prst="rect">
            <a:avLst/>
          </a:prstGeom>
          <a:noFill/>
        </p:spPr>
        <p:txBody>
          <a:bodyPr wrap="square">
            <a:spAutoFit/>
          </a:bodyPr>
          <a:lstStyle/>
          <a:p>
            <a:r>
              <a:rPr b="1" sz="1500">
                <a:solidFill>
                  <a:srgbClr val="121F31"/>
                </a:solidFill>
              </a:rPr>
              <a:t>Internship Focus</a:t>
            </a:r>
          </a:p>
          <a:p>
            <a:pPr>
              <a:spcBef>
                <a:spcPts val="500"/>
              </a:spcBef>
            </a:pPr>
            <a:r>
              <a:rPr sz="1100">
                <a:solidFill>
                  <a:srgbClr val="232B35"/>
                </a:solidFill>
              </a:rPr>
              <a:t>Practical development of a complete web application covering frontend, backend APIs, database integration, CRUD operations, validation, debugging and testing.</a:t>
            </a:r>
          </a:p>
        </p:txBody>
      </p:sp>
      <p:sp>
        <p:nvSpPr>
          <p:cNvPr id="26" name="Rectangle 25"/>
          <p:cNvSpPr/>
          <p:nvPr/>
        </p:nvSpPr>
        <p:spPr>
          <a:xfrm>
            <a:off x="594360" y="6473952"/>
            <a:ext cx="10972800" cy="13716"/>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6492240"/>
            <a:ext cx="10698480" cy="228600"/>
          </a:xfrm>
          <a:prstGeom prst="rect">
            <a:avLst/>
          </a:prstGeom>
          <a:noFill/>
        </p:spPr>
        <p:txBody>
          <a:bodyPr wrap="none">
            <a:spAutoFit/>
          </a:bodyPr>
          <a:lstStyle/>
          <a:p>
            <a:pPr algn="r"/>
            <a:r>
              <a:rPr sz="800">
                <a:solidFill>
                  <a:srgbClr val="626C78"/>
                </a:solidFill>
              </a:rPr>
              <a:t>FULL-STACK DEVELOPMENT INTERNSHIP • AKSHAT MAURYA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822960"/>
          </a:xfrm>
          <a:prstGeom prst="rect">
            <a:avLst/>
          </a:prstGeom>
          <a:noFill/>
        </p:spPr>
        <p:txBody>
          <a:bodyPr wrap="none">
            <a:spAutoFit/>
          </a:bodyPr>
          <a:lstStyle/>
          <a:p>
            <a:r>
              <a:rPr sz="2400" b="1">
                <a:solidFill>
                  <a:srgbClr val="121F31"/>
                </a:solidFill>
                <a:latin typeface="Aptos Display"/>
              </a:rPr>
              <a:t>ABOUT THE INTERNSHIP PROGRAM</a:t>
            </a:r>
          </a:p>
        </p:txBody>
      </p:sp>
      <p:sp>
        <p:nvSpPr>
          <p:cNvPr id="4" name="TextBox 3"/>
          <p:cNvSpPr txBox="1"/>
          <p:nvPr/>
        </p:nvSpPr>
        <p:spPr>
          <a:xfrm>
            <a:off x="621792" y="960120"/>
            <a:ext cx="10789920" cy="365760"/>
          </a:xfrm>
          <a:prstGeom prst="rect">
            <a:avLst/>
          </a:prstGeom>
          <a:noFill/>
        </p:spPr>
        <p:txBody>
          <a:bodyPr wrap="none">
            <a:spAutoFit/>
          </a:bodyPr>
          <a:lstStyle/>
          <a:p>
            <a:r>
              <a:rPr sz="1200">
                <a:solidFill>
                  <a:srgbClr val="626C78"/>
                </a:solidFill>
              </a:rPr>
              <a:t>Organization and certificate-backed internship information</a:t>
            </a:r>
          </a:p>
        </p:txBody>
      </p:sp>
      <p:sp>
        <p:nvSpPr>
          <p:cNvPr id="5" name="Rounded Rectangle 4"/>
          <p:cNvSpPr/>
          <p:nvPr/>
        </p:nvSpPr>
        <p:spPr>
          <a:xfrm>
            <a:off x="640080" y="1417320"/>
            <a:ext cx="5212080" cy="137160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137160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63624"/>
            <a:ext cx="4800600" cy="1143000"/>
          </a:xfrm>
          <a:prstGeom prst="rect">
            <a:avLst/>
          </a:prstGeom>
          <a:noFill/>
        </p:spPr>
        <p:txBody>
          <a:bodyPr wrap="square">
            <a:spAutoFit/>
          </a:bodyPr>
          <a:lstStyle/>
          <a:p>
            <a:r>
              <a:rPr b="1" sz="1500">
                <a:solidFill>
                  <a:srgbClr val="121F31"/>
                </a:solidFill>
              </a:rPr>
              <a:t>Organization</a:t>
            </a:r>
          </a:p>
          <a:p>
            <a:pPr>
              <a:spcBef>
                <a:spcPts val="500"/>
              </a:spcBef>
            </a:pPr>
            <a:r>
              <a:rPr sz="1100">
                <a:solidFill>
                  <a:srgbClr val="232B35"/>
                </a:solidFill>
              </a:rPr>
              <a:t>UniConverge Technologies / upSkillCampus</a:t>
            </a:r>
          </a:p>
        </p:txBody>
      </p:sp>
      <p:sp>
        <p:nvSpPr>
          <p:cNvPr id="8" name="Rounded Rectangle 7"/>
          <p:cNvSpPr/>
          <p:nvPr/>
        </p:nvSpPr>
        <p:spPr>
          <a:xfrm>
            <a:off x="6217920" y="1417320"/>
            <a:ext cx="5212080" cy="137160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417320"/>
            <a:ext cx="73152" cy="137160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63624"/>
            <a:ext cx="4800600" cy="1143000"/>
          </a:xfrm>
          <a:prstGeom prst="rect">
            <a:avLst/>
          </a:prstGeom>
          <a:noFill/>
        </p:spPr>
        <p:txBody>
          <a:bodyPr wrap="square">
            <a:spAutoFit/>
          </a:bodyPr>
          <a:lstStyle/>
          <a:p>
            <a:r>
              <a:rPr b="1" sz="1500">
                <a:solidFill>
                  <a:srgbClr val="121F31"/>
                </a:solidFill>
              </a:rPr>
              <a:t>Domain</a:t>
            </a:r>
          </a:p>
          <a:p>
            <a:pPr>
              <a:spcBef>
                <a:spcPts val="500"/>
              </a:spcBef>
            </a:pPr>
            <a:r>
              <a:rPr sz="1100">
                <a:solidFill>
                  <a:srgbClr val="232B35"/>
                </a:solidFill>
              </a:rPr>
              <a:t>Full-Stack Development</a:t>
            </a:r>
          </a:p>
        </p:txBody>
      </p:sp>
      <p:sp>
        <p:nvSpPr>
          <p:cNvPr id="11" name="Rounded Rectangle 10"/>
          <p:cNvSpPr/>
          <p:nvPr/>
        </p:nvSpPr>
        <p:spPr>
          <a:xfrm>
            <a:off x="640080" y="3108960"/>
            <a:ext cx="5212080" cy="137160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108960"/>
            <a:ext cx="73152" cy="137160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255264"/>
            <a:ext cx="4800600" cy="1143000"/>
          </a:xfrm>
          <a:prstGeom prst="rect">
            <a:avLst/>
          </a:prstGeom>
          <a:noFill/>
        </p:spPr>
        <p:txBody>
          <a:bodyPr wrap="square">
            <a:spAutoFit/>
          </a:bodyPr>
          <a:lstStyle/>
          <a:p>
            <a:r>
              <a:rPr b="1" sz="1500">
                <a:solidFill>
                  <a:srgbClr val="121F31"/>
                </a:solidFill>
              </a:rPr>
              <a:t>Internship Period</a:t>
            </a:r>
          </a:p>
          <a:p>
            <a:pPr>
              <a:spcBef>
                <a:spcPts val="500"/>
              </a:spcBef>
            </a:pPr>
            <a:r>
              <a:rPr sz="1100">
                <a:solidFill>
                  <a:srgbClr val="232B35"/>
                </a:solidFill>
              </a:rPr>
              <a:t>02 August 2026 – 30 August 2026</a:t>
            </a:r>
          </a:p>
        </p:txBody>
      </p:sp>
      <p:sp>
        <p:nvSpPr>
          <p:cNvPr id="14" name="Rounded Rectangle 13"/>
          <p:cNvSpPr/>
          <p:nvPr/>
        </p:nvSpPr>
        <p:spPr>
          <a:xfrm>
            <a:off x="6217920" y="3108960"/>
            <a:ext cx="5212080" cy="137160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108960"/>
            <a:ext cx="73152" cy="137160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3255264"/>
            <a:ext cx="4800600" cy="1143000"/>
          </a:xfrm>
          <a:prstGeom prst="rect">
            <a:avLst/>
          </a:prstGeom>
          <a:noFill/>
        </p:spPr>
        <p:txBody>
          <a:bodyPr wrap="square">
            <a:spAutoFit/>
          </a:bodyPr>
          <a:lstStyle/>
          <a:p>
            <a:r>
              <a:rPr b="1" sz="1500">
                <a:solidFill>
                  <a:srgbClr val="121F31"/>
                </a:solidFill>
              </a:rPr>
              <a:t>Certificate ID</a:t>
            </a:r>
          </a:p>
          <a:p>
            <a:pPr>
              <a:spcBef>
                <a:spcPts val="500"/>
              </a:spcBef>
            </a:pPr>
            <a:r>
              <a:rPr sz="1100">
                <a:solidFill>
                  <a:srgbClr val="232B35"/>
                </a:solidFill>
              </a:rPr>
              <a:t>USC704188TIA</a:t>
            </a:r>
          </a:p>
        </p:txBody>
      </p:sp>
      <p:sp>
        <p:nvSpPr>
          <p:cNvPr id="17" name="Rounded Rectangle 16"/>
          <p:cNvSpPr/>
          <p:nvPr/>
        </p:nvSpPr>
        <p:spPr>
          <a:xfrm>
            <a:off x="640080" y="5074920"/>
            <a:ext cx="10789920" cy="77724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5074920"/>
            <a:ext cx="73152" cy="77724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221224"/>
            <a:ext cx="10378440" cy="548640"/>
          </a:xfrm>
          <a:prstGeom prst="rect">
            <a:avLst/>
          </a:prstGeom>
          <a:noFill/>
        </p:spPr>
        <p:txBody>
          <a:bodyPr wrap="square">
            <a:spAutoFit/>
          </a:bodyPr>
          <a:lstStyle/>
          <a:p>
            <a:r>
              <a:rPr b="1" sz="1500">
                <a:solidFill>
                  <a:srgbClr val="121F31"/>
                </a:solidFill>
              </a:rPr>
              <a:t>Certificate Evidence</a:t>
            </a:r>
          </a:p>
          <a:p>
            <a:pPr>
              <a:spcBef>
                <a:spcPts val="500"/>
              </a:spcBef>
            </a:pPr>
            <a:r>
              <a:rPr sz="1100">
                <a:solidFill>
                  <a:srgbClr val="232B35"/>
                </a:solidFill>
              </a:rPr>
              <a:t>The completion certificate records hands-on training and real industry project work in Full-Stack Development.</a:t>
            </a:r>
          </a:p>
        </p:txBody>
      </p:sp>
      <p:sp>
        <p:nvSpPr>
          <p:cNvPr id="20" name="Rectangle 19"/>
          <p:cNvSpPr/>
          <p:nvPr/>
        </p:nvSpPr>
        <p:spPr>
          <a:xfrm>
            <a:off x="594360" y="6473952"/>
            <a:ext cx="10972800" cy="13716"/>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92240"/>
            <a:ext cx="10698480" cy="228600"/>
          </a:xfrm>
          <a:prstGeom prst="rect">
            <a:avLst/>
          </a:prstGeom>
          <a:noFill/>
        </p:spPr>
        <p:txBody>
          <a:bodyPr wrap="none">
            <a:spAutoFit/>
          </a:bodyPr>
          <a:lstStyle/>
          <a:p>
            <a:pPr algn="r"/>
            <a:r>
              <a:rPr sz="800">
                <a:solidFill>
                  <a:srgbClr val="626C78"/>
                </a:solidFill>
              </a:rPr>
              <a:t>FULL-STACK DEVELOPMENT INTERNSHIP • AKSHAT MAURYA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822960"/>
          </a:xfrm>
          <a:prstGeom prst="rect">
            <a:avLst/>
          </a:prstGeom>
          <a:noFill/>
        </p:spPr>
        <p:txBody>
          <a:bodyPr wrap="none">
            <a:spAutoFit/>
          </a:bodyPr>
          <a:lstStyle/>
          <a:p>
            <a:r>
              <a:rPr sz="2400" b="1">
                <a:solidFill>
                  <a:srgbClr val="121F31"/>
                </a:solidFill>
                <a:latin typeface="Aptos Display"/>
              </a:rPr>
              <a:t>PROBLEM STATEMENT</a:t>
            </a:r>
          </a:p>
        </p:txBody>
      </p:sp>
      <p:sp>
        <p:nvSpPr>
          <p:cNvPr id="4" name="TextBox 3"/>
          <p:cNvSpPr txBox="1"/>
          <p:nvPr/>
        </p:nvSpPr>
        <p:spPr>
          <a:xfrm>
            <a:off x="621792" y="960120"/>
            <a:ext cx="10789920" cy="365760"/>
          </a:xfrm>
          <a:prstGeom prst="rect">
            <a:avLst/>
          </a:prstGeom>
          <a:noFill/>
        </p:spPr>
        <p:txBody>
          <a:bodyPr wrap="none">
            <a:spAutoFit/>
          </a:bodyPr>
          <a:lstStyle/>
          <a:p>
            <a:r>
              <a:rPr sz="1200">
                <a:solidFill>
                  <a:srgbClr val="626C78"/>
                </a:solidFill>
              </a:rPr>
              <a:t>From scattered task information to one simple workspace</a:t>
            </a:r>
          </a:p>
        </p:txBody>
      </p:sp>
      <p:sp>
        <p:nvSpPr>
          <p:cNvPr id="5" name="Rounded Rectangle 4"/>
          <p:cNvSpPr/>
          <p:nvPr/>
        </p:nvSpPr>
        <p:spPr>
          <a:xfrm>
            <a:off x="640080" y="1371600"/>
            <a:ext cx="5303520" cy="448056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73152" cy="448056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17904"/>
            <a:ext cx="4892040" cy="4251960"/>
          </a:xfrm>
          <a:prstGeom prst="rect">
            <a:avLst/>
          </a:prstGeom>
          <a:noFill/>
        </p:spPr>
        <p:txBody>
          <a:bodyPr wrap="square">
            <a:spAutoFit/>
          </a:bodyPr>
          <a:lstStyle/>
          <a:p>
            <a:r>
              <a:rPr b="1" sz="1500">
                <a:solidFill>
                  <a:srgbClr val="121F31"/>
                </a:solidFill>
              </a:rPr>
              <a:t>The Problem</a:t>
            </a:r>
          </a:p>
          <a:p>
            <a:pPr>
              <a:spcBef>
                <a:spcPts val="500"/>
              </a:spcBef>
            </a:pPr>
            <a:r>
              <a:rPr sz="1100">
                <a:solidFill>
                  <a:srgbClr val="232B35"/>
                </a:solidFill>
              </a:rPr>
              <a:t>Students and small teams often track work using notebooks, spreadsheets or chat messages.
This makes it difficult to keep tasks in one place, know what is pending or completed, update priorities and maintain persistent records.
A simple web application can centralize these activities.</a:t>
            </a:r>
          </a:p>
        </p:txBody>
      </p:sp>
      <p:sp>
        <p:nvSpPr>
          <p:cNvPr id="8" name="Rounded Rectangle 7"/>
          <p:cNvSpPr/>
          <p:nvPr/>
        </p:nvSpPr>
        <p:spPr>
          <a:xfrm>
            <a:off x="6217920" y="1371600"/>
            <a:ext cx="5303520" cy="448056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371600"/>
            <a:ext cx="73152" cy="448056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17904"/>
            <a:ext cx="4892040" cy="4251960"/>
          </a:xfrm>
          <a:prstGeom prst="rect">
            <a:avLst/>
          </a:prstGeom>
          <a:noFill/>
        </p:spPr>
        <p:txBody>
          <a:bodyPr wrap="square">
            <a:spAutoFit/>
          </a:bodyPr>
          <a:lstStyle/>
          <a:p>
            <a:r>
              <a:rPr b="1" sz="1500">
                <a:solidFill>
                  <a:srgbClr val="121F31"/>
                </a:solidFill>
              </a:rPr>
              <a:t>The Proposed Answer</a:t>
            </a:r>
          </a:p>
          <a:p>
            <a:pPr>
              <a:spcBef>
                <a:spcPts val="500"/>
              </a:spcBef>
            </a:pPr>
            <a:r>
              <a:rPr sz="1100">
                <a:solidFill>
                  <a:srgbClr val="232B35"/>
                </a:solidFill>
              </a:rPr>
              <a:t>TaskFlow provides one dashboard where users can create, view, update and delete tasks.
The application connects:
React Frontend → Express/Node.js API → MongoDB
This demonstrates an end-to-end Full-Stack workflow.</a:t>
            </a:r>
          </a:p>
        </p:txBody>
      </p:sp>
      <p:sp>
        <p:nvSpPr>
          <p:cNvPr id="11" name="Rectangle 10"/>
          <p:cNvSpPr/>
          <p:nvPr/>
        </p:nvSpPr>
        <p:spPr>
          <a:xfrm>
            <a:off x="594360" y="6473952"/>
            <a:ext cx="10972800" cy="13716"/>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492240"/>
            <a:ext cx="10698480" cy="228600"/>
          </a:xfrm>
          <a:prstGeom prst="rect">
            <a:avLst/>
          </a:prstGeom>
          <a:noFill/>
        </p:spPr>
        <p:txBody>
          <a:bodyPr wrap="none">
            <a:spAutoFit/>
          </a:bodyPr>
          <a:lstStyle/>
          <a:p>
            <a:pPr algn="r"/>
            <a:r>
              <a:rPr sz="800">
                <a:solidFill>
                  <a:srgbClr val="626C78"/>
                </a:solidFill>
              </a:rPr>
              <a:t>FULL-STACK DEVELOPMENT INTERNSHIP • AKSHAT MAURYA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822960"/>
          </a:xfrm>
          <a:prstGeom prst="rect">
            <a:avLst/>
          </a:prstGeom>
          <a:noFill/>
        </p:spPr>
        <p:txBody>
          <a:bodyPr wrap="none">
            <a:spAutoFit/>
          </a:bodyPr>
          <a:lstStyle/>
          <a:p>
            <a:r>
              <a:rPr sz="2400" b="1">
                <a:solidFill>
                  <a:srgbClr val="121F31"/>
                </a:solidFill>
                <a:latin typeface="Aptos Display"/>
              </a:rPr>
              <a:t>PROJECT OBJECTIVES</a:t>
            </a:r>
          </a:p>
        </p:txBody>
      </p:sp>
      <p:sp>
        <p:nvSpPr>
          <p:cNvPr id="4" name="TextBox 3"/>
          <p:cNvSpPr txBox="1"/>
          <p:nvPr/>
        </p:nvSpPr>
        <p:spPr>
          <a:xfrm>
            <a:off x="621792" y="960120"/>
            <a:ext cx="10789920" cy="365760"/>
          </a:xfrm>
          <a:prstGeom prst="rect">
            <a:avLst/>
          </a:prstGeom>
          <a:noFill/>
        </p:spPr>
        <p:txBody>
          <a:bodyPr wrap="none">
            <a:spAutoFit/>
          </a:bodyPr>
          <a:lstStyle/>
          <a:p>
            <a:r>
              <a:rPr sz="1200">
                <a:solidFill>
                  <a:srgbClr val="626C78"/>
                </a:solidFill>
              </a:rPr>
              <a:t>What the internship project set out to achieve</a:t>
            </a:r>
          </a:p>
        </p:txBody>
      </p:sp>
      <p:sp>
        <p:nvSpPr>
          <p:cNvPr id="5" name="Rounded Rectangle 4"/>
          <p:cNvSpPr/>
          <p:nvPr/>
        </p:nvSpPr>
        <p:spPr>
          <a:xfrm>
            <a:off x="640080" y="1371600"/>
            <a:ext cx="3383280" cy="169164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73152" cy="169164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17904"/>
            <a:ext cx="2971800" cy="1463040"/>
          </a:xfrm>
          <a:prstGeom prst="rect">
            <a:avLst/>
          </a:prstGeom>
          <a:noFill/>
        </p:spPr>
        <p:txBody>
          <a:bodyPr wrap="square">
            <a:spAutoFit/>
          </a:bodyPr>
          <a:lstStyle/>
          <a:p>
            <a:r>
              <a:rPr b="1" sz="1500">
                <a:solidFill>
                  <a:srgbClr val="121F31"/>
                </a:solidFill>
              </a:rPr>
              <a:t>Responsive UI</a:t>
            </a:r>
          </a:p>
          <a:p>
            <a:pPr>
              <a:spcBef>
                <a:spcPts val="500"/>
              </a:spcBef>
            </a:pPr>
            <a:r>
              <a:rPr sz="1100">
                <a:solidFill>
                  <a:srgbClr val="232B35"/>
                </a:solidFill>
              </a:rPr>
              <a:t>Build a clean and easy-to-use task dashboard.</a:t>
            </a:r>
          </a:p>
        </p:txBody>
      </p:sp>
      <p:sp>
        <p:nvSpPr>
          <p:cNvPr id="8" name="Rounded Rectangle 7"/>
          <p:cNvSpPr/>
          <p:nvPr/>
        </p:nvSpPr>
        <p:spPr>
          <a:xfrm>
            <a:off x="4343400" y="1371600"/>
            <a:ext cx="3383280" cy="169164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371600"/>
            <a:ext cx="73152" cy="169164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517904"/>
            <a:ext cx="2971800" cy="1463040"/>
          </a:xfrm>
          <a:prstGeom prst="rect">
            <a:avLst/>
          </a:prstGeom>
          <a:noFill/>
        </p:spPr>
        <p:txBody>
          <a:bodyPr wrap="square">
            <a:spAutoFit/>
          </a:bodyPr>
          <a:lstStyle/>
          <a:p>
            <a:r>
              <a:rPr b="1" sz="1500">
                <a:solidFill>
                  <a:srgbClr val="121F31"/>
                </a:solidFill>
              </a:rPr>
              <a:t>REST APIs</a:t>
            </a:r>
          </a:p>
          <a:p>
            <a:pPr>
              <a:spcBef>
                <a:spcPts val="500"/>
              </a:spcBef>
            </a:pPr>
            <a:r>
              <a:rPr sz="1100">
                <a:solidFill>
                  <a:srgbClr val="232B35"/>
                </a:solidFill>
              </a:rPr>
              <a:t>Create backend endpoints for CRUD operations.</a:t>
            </a:r>
          </a:p>
        </p:txBody>
      </p:sp>
      <p:sp>
        <p:nvSpPr>
          <p:cNvPr id="11" name="Rounded Rectangle 10"/>
          <p:cNvSpPr/>
          <p:nvPr/>
        </p:nvSpPr>
        <p:spPr>
          <a:xfrm>
            <a:off x="8046719" y="1371600"/>
            <a:ext cx="3383280" cy="169164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19" y="1371600"/>
            <a:ext cx="73152" cy="169164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1517904"/>
            <a:ext cx="2971800" cy="1463040"/>
          </a:xfrm>
          <a:prstGeom prst="rect">
            <a:avLst/>
          </a:prstGeom>
          <a:noFill/>
        </p:spPr>
        <p:txBody>
          <a:bodyPr wrap="square">
            <a:spAutoFit/>
          </a:bodyPr>
          <a:lstStyle/>
          <a:p>
            <a:r>
              <a:rPr b="1" sz="1500">
                <a:solidFill>
                  <a:srgbClr val="121F31"/>
                </a:solidFill>
              </a:rPr>
              <a:t>Database</a:t>
            </a:r>
          </a:p>
          <a:p>
            <a:pPr>
              <a:spcBef>
                <a:spcPts val="500"/>
              </a:spcBef>
            </a:pPr>
            <a:r>
              <a:rPr sz="1100">
                <a:solidFill>
                  <a:srgbClr val="232B35"/>
                </a:solidFill>
              </a:rPr>
              <a:t>Store tasks persistently using MongoDB.</a:t>
            </a:r>
          </a:p>
        </p:txBody>
      </p:sp>
      <p:sp>
        <p:nvSpPr>
          <p:cNvPr id="14" name="Rounded Rectangle 13"/>
          <p:cNvSpPr/>
          <p:nvPr/>
        </p:nvSpPr>
        <p:spPr>
          <a:xfrm>
            <a:off x="640080" y="3520440"/>
            <a:ext cx="3383280" cy="169164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520440"/>
            <a:ext cx="73152" cy="169164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66744"/>
            <a:ext cx="2971800" cy="1463040"/>
          </a:xfrm>
          <a:prstGeom prst="rect">
            <a:avLst/>
          </a:prstGeom>
          <a:noFill/>
        </p:spPr>
        <p:txBody>
          <a:bodyPr wrap="square">
            <a:spAutoFit/>
          </a:bodyPr>
          <a:lstStyle/>
          <a:p>
            <a:r>
              <a:rPr b="1" sz="1500">
                <a:solidFill>
                  <a:srgbClr val="121F31"/>
                </a:solidFill>
              </a:rPr>
              <a:t>Validation</a:t>
            </a:r>
          </a:p>
          <a:p>
            <a:pPr>
              <a:spcBef>
                <a:spcPts val="500"/>
              </a:spcBef>
            </a:pPr>
            <a:r>
              <a:rPr sz="1100">
                <a:solidFill>
                  <a:srgbClr val="232B35"/>
                </a:solidFill>
              </a:rPr>
              <a:t>Check required fields and allowed values.</a:t>
            </a:r>
          </a:p>
        </p:txBody>
      </p:sp>
      <p:sp>
        <p:nvSpPr>
          <p:cNvPr id="17" name="Rounded Rectangle 16"/>
          <p:cNvSpPr/>
          <p:nvPr/>
        </p:nvSpPr>
        <p:spPr>
          <a:xfrm>
            <a:off x="4343400" y="3520440"/>
            <a:ext cx="3383280" cy="169164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3400" y="3520440"/>
            <a:ext cx="73152" cy="169164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3666744"/>
            <a:ext cx="2971800" cy="1463040"/>
          </a:xfrm>
          <a:prstGeom prst="rect">
            <a:avLst/>
          </a:prstGeom>
          <a:noFill/>
        </p:spPr>
        <p:txBody>
          <a:bodyPr wrap="square">
            <a:spAutoFit/>
          </a:bodyPr>
          <a:lstStyle/>
          <a:p>
            <a:r>
              <a:rPr b="1" sz="1500">
                <a:solidFill>
                  <a:srgbClr val="121F31"/>
                </a:solidFill>
              </a:rPr>
              <a:t>Dashboard</a:t>
            </a:r>
          </a:p>
          <a:p>
            <a:pPr>
              <a:spcBef>
                <a:spcPts val="500"/>
              </a:spcBef>
            </a:pPr>
            <a:r>
              <a:rPr sz="1100">
                <a:solidFill>
                  <a:srgbClr val="232B35"/>
                </a:solidFill>
              </a:rPr>
              <a:t>Show task counts and progress at a glance.</a:t>
            </a:r>
          </a:p>
        </p:txBody>
      </p:sp>
      <p:sp>
        <p:nvSpPr>
          <p:cNvPr id="20" name="Rounded Rectangle 19"/>
          <p:cNvSpPr/>
          <p:nvPr/>
        </p:nvSpPr>
        <p:spPr>
          <a:xfrm>
            <a:off x="8046719" y="3520440"/>
            <a:ext cx="3383280" cy="169164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19" y="3520440"/>
            <a:ext cx="73152" cy="169164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19" y="3666744"/>
            <a:ext cx="2971800" cy="1463040"/>
          </a:xfrm>
          <a:prstGeom prst="rect">
            <a:avLst/>
          </a:prstGeom>
          <a:noFill/>
        </p:spPr>
        <p:txBody>
          <a:bodyPr wrap="square">
            <a:spAutoFit/>
          </a:bodyPr>
          <a:lstStyle/>
          <a:p>
            <a:r>
              <a:rPr b="1" sz="1500">
                <a:solidFill>
                  <a:srgbClr val="121F31"/>
                </a:solidFill>
              </a:rPr>
              <a:t>Full-Stack Skills</a:t>
            </a:r>
          </a:p>
          <a:p>
            <a:pPr>
              <a:spcBef>
                <a:spcPts val="500"/>
              </a:spcBef>
            </a:pPr>
            <a:r>
              <a:rPr sz="1100">
                <a:solidFill>
                  <a:srgbClr val="232B35"/>
                </a:solidFill>
              </a:rPr>
              <a:t>Understand how frontend, backend and database layers work together.</a:t>
            </a:r>
          </a:p>
        </p:txBody>
      </p:sp>
      <p:sp>
        <p:nvSpPr>
          <p:cNvPr id="23" name="Rectangle 22"/>
          <p:cNvSpPr/>
          <p:nvPr/>
        </p:nvSpPr>
        <p:spPr>
          <a:xfrm>
            <a:off x="594360" y="6473952"/>
            <a:ext cx="10972800" cy="13716"/>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92240"/>
            <a:ext cx="10698480" cy="228600"/>
          </a:xfrm>
          <a:prstGeom prst="rect">
            <a:avLst/>
          </a:prstGeom>
          <a:noFill/>
        </p:spPr>
        <p:txBody>
          <a:bodyPr wrap="none">
            <a:spAutoFit/>
          </a:bodyPr>
          <a:lstStyle/>
          <a:p>
            <a:pPr algn="r"/>
            <a:r>
              <a:rPr sz="800">
                <a:solidFill>
                  <a:srgbClr val="626C78"/>
                </a:solidFill>
              </a:rPr>
              <a:t>FULL-STACK DEVELOPMENT INTERNSHIP • AKSHAT MAURYA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822960"/>
          </a:xfrm>
          <a:prstGeom prst="rect">
            <a:avLst/>
          </a:prstGeom>
          <a:noFill/>
        </p:spPr>
        <p:txBody>
          <a:bodyPr wrap="none">
            <a:spAutoFit/>
          </a:bodyPr>
          <a:lstStyle/>
          <a:p>
            <a:r>
              <a:rPr sz="2400" b="1">
                <a:solidFill>
                  <a:srgbClr val="121F31"/>
                </a:solidFill>
                <a:latin typeface="Aptos Display"/>
              </a:rPr>
              <a:t>TECHNOLOGIES &amp; TOOLS</a:t>
            </a:r>
          </a:p>
        </p:txBody>
      </p:sp>
      <p:sp>
        <p:nvSpPr>
          <p:cNvPr id="4" name="TextBox 3"/>
          <p:cNvSpPr txBox="1"/>
          <p:nvPr/>
        </p:nvSpPr>
        <p:spPr>
          <a:xfrm>
            <a:off x="621792" y="960120"/>
            <a:ext cx="10789920" cy="365760"/>
          </a:xfrm>
          <a:prstGeom prst="rect">
            <a:avLst/>
          </a:prstGeom>
          <a:noFill/>
        </p:spPr>
        <p:txBody>
          <a:bodyPr wrap="none">
            <a:spAutoFit/>
          </a:bodyPr>
          <a:lstStyle/>
          <a:p>
            <a:r>
              <a:rPr sz="1200">
                <a:solidFill>
                  <a:srgbClr val="626C78"/>
                </a:solidFill>
              </a:rPr>
              <a:t>The toolkit used for the project</a:t>
            </a:r>
          </a:p>
        </p:txBody>
      </p:sp>
      <p:sp>
        <p:nvSpPr>
          <p:cNvPr id="5" name="Rounded Rectangle 4"/>
          <p:cNvSpPr/>
          <p:nvPr/>
        </p:nvSpPr>
        <p:spPr>
          <a:xfrm>
            <a:off x="640080" y="1371600"/>
            <a:ext cx="2514600" cy="16459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73152" cy="164592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17904"/>
            <a:ext cx="2103120" cy="1417320"/>
          </a:xfrm>
          <a:prstGeom prst="rect">
            <a:avLst/>
          </a:prstGeom>
          <a:noFill/>
        </p:spPr>
        <p:txBody>
          <a:bodyPr wrap="square">
            <a:spAutoFit/>
          </a:bodyPr>
          <a:lstStyle/>
          <a:p>
            <a:r>
              <a:rPr b="1" sz="1500">
                <a:solidFill>
                  <a:srgbClr val="121F31"/>
                </a:solidFill>
              </a:rPr>
              <a:t>React.js</a:t>
            </a:r>
          </a:p>
          <a:p>
            <a:pPr>
              <a:spcBef>
                <a:spcPts val="500"/>
              </a:spcBef>
            </a:pPr>
            <a:r>
              <a:rPr sz="1100">
                <a:solidFill>
                  <a:srgbClr val="232B35"/>
                </a:solidFill>
              </a:rPr>
              <a:t>Frontend &amp; reusable components</a:t>
            </a:r>
          </a:p>
        </p:txBody>
      </p:sp>
      <p:sp>
        <p:nvSpPr>
          <p:cNvPr id="8" name="Rounded Rectangle 7"/>
          <p:cNvSpPr/>
          <p:nvPr/>
        </p:nvSpPr>
        <p:spPr>
          <a:xfrm>
            <a:off x="3429000" y="1371600"/>
            <a:ext cx="2514600" cy="16459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29000" y="1371600"/>
            <a:ext cx="73152" cy="164592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1517904"/>
            <a:ext cx="2103120" cy="1417320"/>
          </a:xfrm>
          <a:prstGeom prst="rect">
            <a:avLst/>
          </a:prstGeom>
          <a:noFill/>
        </p:spPr>
        <p:txBody>
          <a:bodyPr wrap="square">
            <a:spAutoFit/>
          </a:bodyPr>
          <a:lstStyle/>
          <a:p>
            <a:r>
              <a:rPr b="1" sz="1500">
                <a:solidFill>
                  <a:srgbClr val="121F31"/>
                </a:solidFill>
              </a:rPr>
              <a:t>JavaScript</a:t>
            </a:r>
          </a:p>
          <a:p>
            <a:pPr>
              <a:spcBef>
                <a:spcPts val="500"/>
              </a:spcBef>
            </a:pPr>
            <a:r>
              <a:rPr sz="1100">
                <a:solidFill>
                  <a:srgbClr val="232B35"/>
                </a:solidFill>
              </a:rPr>
              <a:t>Application logic</a:t>
            </a:r>
          </a:p>
        </p:txBody>
      </p:sp>
      <p:sp>
        <p:nvSpPr>
          <p:cNvPr id="11" name="Rounded Rectangle 10"/>
          <p:cNvSpPr/>
          <p:nvPr/>
        </p:nvSpPr>
        <p:spPr>
          <a:xfrm>
            <a:off x="6217920" y="1371600"/>
            <a:ext cx="2514600" cy="16459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71600"/>
            <a:ext cx="73152" cy="164592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517904"/>
            <a:ext cx="2103120" cy="1417320"/>
          </a:xfrm>
          <a:prstGeom prst="rect">
            <a:avLst/>
          </a:prstGeom>
          <a:noFill/>
        </p:spPr>
        <p:txBody>
          <a:bodyPr wrap="square">
            <a:spAutoFit/>
          </a:bodyPr>
          <a:lstStyle/>
          <a:p>
            <a:r>
              <a:rPr b="1" sz="1500">
                <a:solidFill>
                  <a:srgbClr val="121F31"/>
                </a:solidFill>
              </a:rPr>
              <a:t>Node.js</a:t>
            </a:r>
          </a:p>
          <a:p>
            <a:pPr>
              <a:spcBef>
                <a:spcPts val="500"/>
              </a:spcBef>
            </a:pPr>
            <a:r>
              <a:rPr sz="1100">
                <a:solidFill>
                  <a:srgbClr val="232B35"/>
                </a:solidFill>
              </a:rPr>
              <a:t>Backend runtime</a:t>
            </a:r>
          </a:p>
        </p:txBody>
      </p:sp>
      <p:sp>
        <p:nvSpPr>
          <p:cNvPr id="14" name="Rounded Rectangle 13"/>
          <p:cNvSpPr/>
          <p:nvPr/>
        </p:nvSpPr>
        <p:spPr>
          <a:xfrm>
            <a:off x="9006839" y="1371600"/>
            <a:ext cx="2514600" cy="16459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06839" y="1371600"/>
            <a:ext cx="73152" cy="164592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39" y="1517904"/>
            <a:ext cx="2103120" cy="1417320"/>
          </a:xfrm>
          <a:prstGeom prst="rect">
            <a:avLst/>
          </a:prstGeom>
          <a:noFill/>
        </p:spPr>
        <p:txBody>
          <a:bodyPr wrap="square">
            <a:spAutoFit/>
          </a:bodyPr>
          <a:lstStyle/>
          <a:p>
            <a:r>
              <a:rPr b="1" sz="1500">
                <a:solidFill>
                  <a:srgbClr val="121F31"/>
                </a:solidFill>
              </a:rPr>
              <a:t>Express.js</a:t>
            </a:r>
          </a:p>
          <a:p>
            <a:pPr>
              <a:spcBef>
                <a:spcPts val="500"/>
              </a:spcBef>
            </a:pPr>
            <a:r>
              <a:rPr sz="1100">
                <a:solidFill>
                  <a:srgbClr val="232B35"/>
                </a:solidFill>
              </a:rPr>
              <a:t>REST API server</a:t>
            </a:r>
          </a:p>
        </p:txBody>
      </p:sp>
      <p:sp>
        <p:nvSpPr>
          <p:cNvPr id="17" name="Rounded Rectangle 16"/>
          <p:cNvSpPr/>
          <p:nvPr/>
        </p:nvSpPr>
        <p:spPr>
          <a:xfrm>
            <a:off x="640080" y="3520440"/>
            <a:ext cx="2514600" cy="16459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520440"/>
            <a:ext cx="73152" cy="164592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666744"/>
            <a:ext cx="2103120" cy="1417320"/>
          </a:xfrm>
          <a:prstGeom prst="rect">
            <a:avLst/>
          </a:prstGeom>
          <a:noFill/>
        </p:spPr>
        <p:txBody>
          <a:bodyPr wrap="square">
            <a:spAutoFit/>
          </a:bodyPr>
          <a:lstStyle/>
          <a:p>
            <a:r>
              <a:rPr b="1" sz="1500">
                <a:solidFill>
                  <a:srgbClr val="121F31"/>
                </a:solidFill>
              </a:rPr>
              <a:t>MongoDB</a:t>
            </a:r>
          </a:p>
          <a:p>
            <a:pPr>
              <a:spcBef>
                <a:spcPts val="500"/>
              </a:spcBef>
            </a:pPr>
            <a:r>
              <a:rPr sz="1100">
                <a:solidFill>
                  <a:srgbClr val="232B35"/>
                </a:solidFill>
              </a:rPr>
              <a:t>Persistent database</a:t>
            </a:r>
          </a:p>
        </p:txBody>
      </p:sp>
      <p:sp>
        <p:nvSpPr>
          <p:cNvPr id="20" name="Rounded Rectangle 19"/>
          <p:cNvSpPr/>
          <p:nvPr/>
        </p:nvSpPr>
        <p:spPr>
          <a:xfrm>
            <a:off x="3429000" y="3520440"/>
            <a:ext cx="2514600" cy="16459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29000" y="3520440"/>
            <a:ext cx="73152" cy="164592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0" y="3666744"/>
            <a:ext cx="2103120" cy="1417320"/>
          </a:xfrm>
          <a:prstGeom prst="rect">
            <a:avLst/>
          </a:prstGeom>
          <a:noFill/>
        </p:spPr>
        <p:txBody>
          <a:bodyPr wrap="square">
            <a:spAutoFit/>
          </a:bodyPr>
          <a:lstStyle/>
          <a:p>
            <a:r>
              <a:rPr b="1" sz="1500">
                <a:solidFill>
                  <a:srgbClr val="121F31"/>
                </a:solidFill>
              </a:rPr>
              <a:t>Mongoose</a:t>
            </a:r>
          </a:p>
          <a:p>
            <a:pPr>
              <a:spcBef>
                <a:spcPts val="500"/>
              </a:spcBef>
            </a:pPr>
            <a:r>
              <a:rPr sz="1100">
                <a:solidFill>
                  <a:srgbClr val="232B35"/>
                </a:solidFill>
              </a:rPr>
              <a:t>Database modelling &amp; validation</a:t>
            </a:r>
          </a:p>
        </p:txBody>
      </p:sp>
      <p:sp>
        <p:nvSpPr>
          <p:cNvPr id="23" name="Rounded Rectangle 22"/>
          <p:cNvSpPr/>
          <p:nvPr/>
        </p:nvSpPr>
        <p:spPr>
          <a:xfrm>
            <a:off x="6217920" y="3520440"/>
            <a:ext cx="2514600" cy="16459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520440"/>
            <a:ext cx="73152" cy="164592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3666744"/>
            <a:ext cx="2103120" cy="1417320"/>
          </a:xfrm>
          <a:prstGeom prst="rect">
            <a:avLst/>
          </a:prstGeom>
          <a:noFill/>
        </p:spPr>
        <p:txBody>
          <a:bodyPr wrap="square">
            <a:spAutoFit/>
          </a:bodyPr>
          <a:lstStyle/>
          <a:p>
            <a:r>
              <a:rPr b="1" sz="1500">
                <a:solidFill>
                  <a:srgbClr val="121F31"/>
                </a:solidFill>
              </a:rPr>
              <a:t>Git / GitHub</a:t>
            </a:r>
          </a:p>
          <a:p>
            <a:pPr>
              <a:spcBef>
                <a:spcPts val="500"/>
              </a:spcBef>
            </a:pPr>
            <a:r>
              <a:rPr sz="1100">
                <a:solidFill>
                  <a:srgbClr val="232B35"/>
                </a:solidFill>
              </a:rPr>
              <a:t>Version control</a:t>
            </a:r>
          </a:p>
        </p:txBody>
      </p:sp>
      <p:sp>
        <p:nvSpPr>
          <p:cNvPr id="26" name="Rounded Rectangle 25"/>
          <p:cNvSpPr/>
          <p:nvPr/>
        </p:nvSpPr>
        <p:spPr>
          <a:xfrm>
            <a:off x="9006839" y="3520440"/>
            <a:ext cx="2514600" cy="164592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06839" y="3520440"/>
            <a:ext cx="73152" cy="164592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35439" y="3666744"/>
            <a:ext cx="2103120" cy="1417320"/>
          </a:xfrm>
          <a:prstGeom prst="rect">
            <a:avLst/>
          </a:prstGeom>
          <a:noFill/>
        </p:spPr>
        <p:txBody>
          <a:bodyPr wrap="square">
            <a:spAutoFit/>
          </a:bodyPr>
          <a:lstStyle/>
          <a:p>
            <a:r>
              <a:rPr b="1" sz="1500">
                <a:solidFill>
                  <a:srgbClr val="121F31"/>
                </a:solidFill>
              </a:rPr>
              <a:t>VS Code / Postman</a:t>
            </a:r>
          </a:p>
          <a:p>
            <a:pPr>
              <a:spcBef>
                <a:spcPts val="500"/>
              </a:spcBef>
            </a:pPr>
            <a:r>
              <a:rPr sz="1100">
                <a:solidFill>
                  <a:srgbClr val="232B35"/>
                </a:solidFill>
              </a:rPr>
              <a:t>Development &amp; API testing</a:t>
            </a:r>
          </a:p>
        </p:txBody>
      </p:sp>
      <p:sp>
        <p:nvSpPr>
          <p:cNvPr id="29" name="Rectangle 28"/>
          <p:cNvSpPr/>
          <p:nvPr/>
        </p:nvSpPr>
        <p:spPr>
          <a:xfrm>
            <a:off x="594360" y="6473952"/>
            <a:ext cx="10972800" cy="13716"/>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492240"/>
            <a:ext cx="10698480" cy="228600"/>
          </a:xfrm>
          <a:prstGeom prst="rect">
            <a:avLst/>
          </a:prstGeom>
          <a:noFill/>
        </p:spPr>
        <p:txBody>
          <a:bodyPr wrap="none">
            <a:spAutoFit/>
          </a:bodyPr>
          <a:lstStyle/>
          <a:p>
            <a:pPr algn="r"/>
            <a:r>
              <a:rPr sz="800">
                <a:solidFill>
                  <a:srgbClr val="626C78"/>
                </a:solidFill>
              </a:rPr>
              <a:t>FULL-STACK DEVELOPMENT INTERNSHIP • AKSHAT MAURYA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822960"/>
          </a:xfrm>
          <a:prstGeom prst="rect">
            <a:avLst/>
          </a:prstGeom>
          <a:noFill/>
        </p:spPr>
        <p:txBody>
          <a:bodyPr wrap="none">
            <a:spAutoFit/>
          </a:bodyPr>
          <a:lstStyle/>
          <a:p>
            <a:r>
              <a:rPr sz="2400" b="1">
                <a:solidFill>
                  <a:srgbClr val="121F31"/>
                </a:solidFill>
                <a:latin typeface="Aptos Display"/>
              </a:rPr>
              <a:t>SYSTEM ARCHITECTURE</a:t>
            </a:r>
          </a:p>
        </p:txBody>
      </p:sp>
      <p:sp>
        <p:nvSpPr>
          <p:cNvPr id="4" name="TextBox 3"/>
          <p:cNvSpPr txBox="1"/>
          <p:nvPr/>
        </p:nvSpPr>
        <p:spPr>
          <a:xfrm>
            <a:off x="621792" y="960120"/>
            <a:ext cx="10789920" cy="365760"/>
          </a:xfrm>
          <a:prstGeom prst="rect">
            <a:avLst/>
          </a:prstGeom>
          <a:noFill/>
        </p:spPr>
        <p:txBody>
          <a:bodyPr wrap="none">
            <a:spAutoFit/>
          </a:bodyPr>
          <a:lstStyle/>
          <a:p>
            <a:r>
              <a:rPr sz="1200">
                <a:solidFill>
                  <a:srgbClr val="626C78"/>
                </a:solidFill>
              </a:rPr>
              <a:t>From browser interaction to persistent database storage</a:t>
            </a:r>
          </a:p>
        </p:txBody>
      </p:sp>
      <p:sp>
        <p:nvSpPr>
          <p:cNvPr id="5" name="Rounded Rectangle 4"/>
          <p:cNvSpPr/>
          <p:nvPr/>
        </p:nvSpPr>
        <p:spPr>
          <a:xfrm>
            <a:off x="1143000" y="1325880"/>
            <a:ext cx="9875520" cy="100584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43000" y="1325880"/>
            <a:ext cx="73152" cy="100584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1472184"/>
            <a:ext cx="9464040" cy="777240"/>
          </a:xfrm>
          <a:prstGeom prst="rect">
            <a:avLst/>
          </a:prstGeom>
          <a:noFill/>
        </p:spPr>
        <p:txBody>
          <a:bodyPr wrap="square">
            <a:spAutoFit/>
          </a:bodyPr>
          <a:lstStyle/>
          <a:p>
            <a:r>
              <a:rPr b="1" sz="1500">
                <a:solidFill>
                  <a:srgbClr val="121F31"/>
                </a:solidFill>
              </a:rPr>
              <a:t>1. React Frontend</a:t>
            </a:r>
          </a:p>
          <a:p>
            <a:pPr>
              <a:spcBef>
                <a:spcPts val="500"/>
              </a:spcBef>
            </a:pPr>
            <a:r>
              <a:rPr sz="1100">
                <a:solidFill>
                  <a:srgbClr val="232B35"/>
                </a:solidFill>
              </a:rPr>
              <a:t>Dashboard • Task Form • Filters • Task List</a:t>
            </a:r>
          </a:p>
        </p:txBody>
      </p:sp>
      <p:sp>
        <p:nvSpPr>
          <p:cNvPr id="8" name="Down Arrow 7"/>
          <p:cNvSpPr/>
          <p:nvPr/>
        </p:nvSpPr>
        <p:spPr>
          <a:xfrm>
            <a:off x="5532120" y="2313432"/>
            <a:ext cx="731520" cy="320040"/>
          </a:xfrm>
          <a:prstGeom prst="downArrow">
            <a:avLst/>
          </a:prstGeom>
          <a:solidFill>
            <a:srgbClr val="626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43000" y="2743200"/>
            <a:ext cx="9875520" cy="100584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43000" y="2743200"/>
            <a:ext cx="73152" cy="100584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2889504"/>
            <a:ext cx="9464040" cy="777240"/>
          </a:xfrm>
          <a:prstGeom prst="rect">
            <a:avLst/>
          </a:prstGeom>
          <a:noFill/>
        </p:spPr>
        <p:txBody>
          <a:bodyPr wrap="square">
            <a:spAutoFit/>
          </a:bodyPr>
          <a:lstStyle/>
          <a:p>
            <a:r>
              <a:rPr b="1" sz="1500">
                <a:solidFill>
                  <a:srgbClr val="121F31"/>
                </a:solidFill>
              </a:rPr>
              <a:t>2. Node.js + Express</a:t>
            </a:r>
          </a:p>
          <a:p>
            <a:pPr>
              <a:spcBef>
                <a:spcPts val="500"/>
              </a:spcBef>
            </a:pPr>
            <a:r>
              <a:rPr sz="1100">
                <a:solidFill>
                  <a:srgbClr val="232B35"/>
                </a:solidFill>
              </a:rPr>
              <a:t>Routes • Validation • Business Logic • Error Handling</a:t>
            </a:r>
          </a:p>
        </p:txBody>
      </p:sp>
      <p:sp>
        <p:nvSpPr>
          <p:cNvPr id="12" name="Down Arrow 11"/>
          <p:cNvSpPr/>
          <p:nvPr/>
        </p:nvSpPr>
        <p:spPr>
          <a:xfrm>
            <a:off x="5532120" y="3730752"/>
            <a:ext cx="731520" cy="320040"/>
          </a:xfrm>
          <a:prstGeom prst="downArrow">
            <a:avLst/>
          </a:prstGeom>
          <a:solidFill>
            <a:srgbClr val="626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43000" y="4160520"/>
            <a:ext cx="9875520" cy="100584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43000" y="4160520"/>
            <a:ext cx="73152" cy="100584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4306824"/>
            <a:ext cx="9464040" cy="777240"/>
          </a:xfrm>
          <a:prstGeom prst="rect">
            <a:avLst/>
          </a:prstGeom>
          <a:noFill/>
        </p:spPr>
        <p:txBody>
          <a:bodyPr wrap="square">
            <a:spAutoFit/>
          </a:bodyPr>
          <a:lstStyle/>
          <a:p>
            <a:r>
              <a:rPr b="1" sz="1500">
                <a:solidFill>
                  <a:srgbClr val="121F31"/>
                </a:solidFill>
              </a:rPr>
              <a:t>3. MongoDB</a:t>
            </a:r>
          </a:p>
          <a:p>
            <a:pPr>
              <a:spcBef>
                <a:spcPts val="500"/>
              </a:spcBef>
            </a:pPr>
            <a:r>
              <a:rPr sz="1100">
                <a:solidFill>
                  <a:srgbClr val="232B35"/>
                </a:solidFill>
              </a:rPr>
              <a:t>Tasks collection • Persistent storage</a:t>
            </a:r>
          </a:p>
        </p:txBody>
      </p:sp>
      <p:sp>
        <p:nvSpPr>
          <p:cNvPr id="16" name="TextBox 15"/>
          <p:cNvSpPr txBox="1"/>
          <p:nvPr/>
        </p:nvSpPr>
        <p:spPr>
          <a:xfrm>
            <a:off x="1188720" y="5715000"/>
            <a:ext cx="9784080" cy="457200"/>
          </a:xfrm>
          <a:prstGeom prst="rect">
            <a:avLst/>
          </a:prstGeom>
          <a:noFill/>
        </p:spPr>
        <p:txBody>
          <a:bodyPr wrap="none">
            <a:spAutoFit/>
          </a:bodyPr>
          <a:lstStyle/>
          <a:p>
            <a:pPr>
              <a:defRPr sz="1200" b="1">
                <a:solidFill>
                  <a:srgbClr val="121F31"/>
                </a:solidFill>
              </a:defRPr>
            </a:pPr>
            <a:r>
              <a:t>Request flow: User action → HTTP/JSON → API → Database → JSON response → Updated UI</a:t>
            </a:r>
          </a:p>
        </p:txBody>
      </p:sp>
      <p:sp>
        <p:nvSpPr>
          <p:cNvPr id="17" name="Rectangle 16"/>
          <p:cNvSpPr/>
          <p:nvPr/>
        </p:nvSpPr>
        <p:spPr>
          <a:xfrm>
            <a:off x="594360" y="6473952"/>
            <a:ext cx="10972800" cy="13716"/>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492240"/>
            <a:ext cx="10698480" cy="228600"/>
          </a:xfrm>
          <a:prstGeom prst="rect">
            <a:avLst/>
          </a:prstGeom>
          <a:noFill/>
        </p:spPr>
        <p:txBody>
          <a:bodyPr wrap="none">
            <a:spAutoFit/>
          </a:bodyPr>
          <a:lstStyle/>
          <a:p>
            <a:pPr algn="r"/>
            <a:r>
              <a:rPr sz="800">
                <a:solidFill>
                  <a:srgbClr val="626C78"/>
                </a:solidFill>
              </a:rPr>
              <a:t>FULL-STACK DEVELOPMENT INTERNSHIP • AKSHAT MAURYA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822960"/>
          </a:xfrm>
          <a:prstGeom prst="rect">
            <a:avLst/>
          </a:prstGeom>
          <a:noFill/>
        </p:spPr>
        <p:txBody>
          <a:bodyPr wrap="none">
            <a:spAutoFit/>
          </a:bodyPr>
          <a:lstStyle/>
          <a:p>
            <a:r>
              <a:rPr sz="2400" b="1">
                <a:solidFill>
                  <a:srgbClr val="121F31"/>
                </a:solidFill>
                <a:latin typeface="Aptos Display"/>
              </a:rPr>
              <a:t>METHODOLOGY</a:t>
            </a:r>
          </a:p>
        </p:txBody>
      </p:sp>
      <p:sp>
        <p:nvSpPr>
          <p:cNvPr id="4" name="TextBox 3"/>
          <p:cNvSpPr txBox="1"/>
          <p:nvPr/>
        </p:nvSpPr>
        <p:spPr>
          <a:xfrm>
            <a:off x="621792" y="960120"/>
            <a:ext cx="10789920" cy="365760"/>
          </a:xfrm>
          <a:prstGeom prst="rect">
            <a:avLst/>
          </a:prstGeom>
          <a:noFill/>
        </p:spPr>
        <p:txBody>
          <a:bodyPr wrap="none">
            <a:spAutoFit/>
          </a:bodyPr>
          <a:lstStyle/>
          <a:p>
            <a:r>
              <a:rPr sz="1200">
                <a:solidFill>
                  <a:srgbClr val="626C78"/>
                </a:solidFill>
              </a:rPr>
              <a:t>The development workflow used for TaskFlow</a:t>
            </a:r>
          </a:p>
        </p:txBody>
      </p:sp>
      <p:sp>
        <p:nvSpPr>
          <p:cNvPr id="5" name="Rounded Rectangle 4"/>
          <p:cNvSpPr/>
          <p:nvPr/>
        </p:nvSpPr>
        <p:spPr>
          <a:xfrm>
            <a:off x="594360" y="1325880"/>
            <a:ext cx="2560320" cy="182880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325880"/>
            <a:ext cx="73152" cy="182880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72184"/>
            <a:ext cx="2148839" cy="1600200"/>
          </a:xfrm>
          <a:prstGeom prst="rect">
            <a:avLst/>
          </a:prstGeom>
          <a:noFill/>
        </p:spPr>
        <p:txBody>
          <a:bodyPr wrap="square">
            <a:spAutoFit/>
          </a:bodyPr>
          <a:lstStyle/>
          <a:p>
            <a:r>
              <a:rPr b="1" sz="1500">
                <a:solidFill>
                  <a:srgbClr val="121F31"/>
                </a:solidFill>
              </a:rPr>
              <a:t>PHASE 1: Requirements</a:t>
            </a:r>
          </a:p>
          <a:p>
            <a:pPr>
              <a:spcBef>
                <a:spcPts val="500"/>
              </a:spcBef>
            </a:pPr>
            <a:r>
              <a:rPr sz="1100">
                <a:solidFill>
                  <a:srgbClr val="232B35"/>
                </a:solidFill>
              </a:rPr>
              <a:t>Define task management features.</a:t>
            </a:r>
          </a:p>
        </p:txBody>
      </p:sp>
      <p:sp>
        <p:nvSpPr>
          <p:cNvPr id="8" name="Rounded Rectangle 7"/>
          <p:cNvSpPr/>
          <p:nvPr/>
        </p:nvSpPr>
        <p:spPr>
          <a:xfrm>
            <a:off x="3429000" y="1325880"/>
            <a:ext cx="2560320" cy="182880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29000" y="1325880"/>
            <a:ext cx="73152" cy="182880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1472184"/>
            <a:ext cx="2148839" cy="1600200"/>
          </a:xfrm>
          <a:prstGeom prst="rect">
            <a:avLst/>
          </a:prstGeom>
          <a:noFill/>
        </p:spPr>
        <p:txBody>
          <a:bodyPr wrap="square">
            <a:spAutoFit/>
          </a:bodyPr>
          <a:lstStyle/>
          <a:p>
            <a:r>
              <a:rPr b="1" sz="1500">
                <a:solidFill>
                  <a:srgbClr val="121F31"/>
                </a:solidFill>
              </a:rPr>
              <a:t>PHASE 2: UI Design</a:t>
            </a:r>
          </a:p>
          <a:p>
            <a:pPr>
              <a:spcBef>
                <a:spcPts val="500"/>
              </a:spcBef>
            </a:pPr>
            <a:r>
              <a:rPr sz="1100">
                <a:solidFill>
                  <a:srgbClr val="232B35"/>
                </a:solidFill>
              </a:rPr>
              <a:t>Plan dashboard, forms and task list.</a:t>
            </a:r>
          </a:p>
        </p:txBody>
      </p:sp>
      <p:sp>
        <p:nvSpPr>
          <p:cNvPr id="11" name="Rounded Rectangle 10"/>
          <p:cNvSpPr/>
          <p:nvPr/>
        </p:nvSpPr>
        <p:spPr>
          <a:xfrm>
            <a:off x="6263640" y="1325880"/>
            <a:ext cx="2560320" cy="182880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325880"/>
            <a:ext cx="73152" cy="182880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472184"/>
            <a:ext cx="2148839" cy="1600200"/>
          </a:xfrm>
          <a:prstGeom prst="rect">
            <a:avLst/>
          </a:prstGeom>
          <a:noFill/>
        </p:spPr>
        <p:txBody>
          <a:bodyPr wrap="square">
            <a:spAutoFit/>
          </a:bodyPr>
          <a:lstStyle/>
          <a:p>
            <a:r>
              <a:rPr b="1" sz="1500">
                <a:solidFill>
                  <a:srgbClr val="121F31"/>
                </a:solidFill>
              </a:rPr>
              <a:t>PHASE 3: Backend</a:t>
            </a:r>
          </a:p>
          <a:p>
            <a:pPr>
              <a:spcBef>
                <a:spcPts val="500"/>
              </a:spcBef>
            </a:pPr>
            <a:r>
              <a:rPr sz="1100">
                <a:solidFill>
                  <a:srgbClr val="232B35"/>
                </a:solidFill>
              </a:rPr>
              <a:t>Build Express routes and validation.</a:t>
            </a:r>
          </a:p>
        </p:txBody>
      </p:sp>
      <p:sp>
        <p:nvSpPr>
          <p:cNvPr id="14" name="Rounded Rectangle 13"/>
          <p:cNvSpPr/>
          <p:nvPr/>
        </p:nvSpPr>
        <p:spPr>
          <a:xfrm>
            <a:off x="9098280" y="1325880"/>
            <a:ext cx="2560320" cy="182880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98280" y="1325880"/>
            <a:ext cx="73152" cy="182880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1472184"/>
            <a:ext cx="2148839" cy="1600200"/>
          </a:xfrm>
          <a:prstGeom prst="rect">
            <a:avLst/>
          </a:prstGeom>
          <a:noFill/>
        </p:spPr>
        <p:txBody>
          <a:bodyPr wrap="square">
            <a:spAutoFit/>
          </a:bodyPr>
          <a:lstStyle/>
          <a:p>
            <a:r>
              <a:rPr b="1" sz="1500">
                <a:solidFill>
                  <a:srgbClr val="121F31"/>
                </a:solidFill>
              </a:rPr>
              <a:t>PHASE 4: Database</a:t>
            </a:r>
          </a:p>
          <a:p>
            <a:pPr>
              <a:spcBef>
                <a:spcPts val="500"/>
              </a:spcBef>
            </a:pPr>
            <a:r>
              <a:rPr sz="1100">
                <a:solidFill>
                  <a:srgbClr val="232B35"/>
                </a:solidFill>
              </a:rPr>
              <a:t>Create MongoDB model and CRUD operations.</a:t>
            </a:r>
          </a:p>
        </p:txBody>
      </p:sp>
      <p:sp>
        <p:nvSpPr>
          <p:cNvPr id="17" name="Rounded Rectangle 16"/>
          <p:cNvSpPr/>
          <p:nvPr/>
        </p:nvSpPr>
        <p:spPr>
          <a:xfrm>
            <a:off x="594360" y="3657600"/>
            <a:ext cx="2560320" cy="182880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3657600"/>
            <a:ext cx="73152" cy="182880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03904"/>
            <a:ext cx="2148839" cy="1600200"/>
          </a:xfrm>
          <a:prstGeom prst="rect">
            <a:avLst/>
          </a:prstGeom>
          <a:noFill/>
        </p:spPr>
        <p:txBody>
          <a:bodyPr wrap="square">
            <a:spAutoFit/>
          </a:bodyPr>
          <a:lstStyle/>
          <a:p>
            <a:r>
              <a:rPr b="1" sz="1500">
                <a:solidFill>
                  <a:srgbClr val="121F31"/>
                </a:solidFill>
              </a:rPr>
              <a:t>PHASE 5: Integration</a:t>
            </a:r>
          </a:p>
          <a:p>
            <a:pPr>
              <a:spcBef>
                <a:spcPts val="500"/>
              </a:spcBef>
            </a:pPr>
            <a:r>
              <a:rPr sz="1100">
                <a:solidFill>
                  <a:srgbClr val="232B35"/>
                </a:solidFill>
              </a:rPr>
              <a:t>Connect React frontend to APIs.</a:t>
            </a:r>
          </a:p>
        </p:txBody>
      </p:sp>
      <p:sp>
        <p:nvSpPr>
          <p:cNvPr id="20" name="Rounded Rectangle 19"/>
          <p:cNvSpPr/>
          <p:nvPr/>
        </p:nvSpPr>
        <p:spPr>
          <a:xfrm>
            <a:off x="3429000" y="3657600"/>
            <a:ext cx="2560320" cy="182880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29000" y="3657600"/>
            <a:ext cx="73152" cy="182880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0" y="3803904"/>
            <a:ext cx="2148839" cy="1600200"/>
          </a:xfrm>
          <a:prstGeom prst="rect">
            <a:avLst/>
          </a:prstGeom>
          <a:noFill/>
        </p:spPr>
        <p:txBody>
          <a:bodyPr wrap="square">
            <a:spAutoFit/>
          </a:bodyPr>
          <a:lstStyle/>
          <a:p>
            <a:r>
              <a:rPr b="1" sz="1500">
                <a:solidFill>
                  <a:srgbClr val="121F31"/>
                </a:solidFill>
              </a:rPr>
              <a:t>PHASE 6: Testing</a:t>
            </a:r>
          </a:p>
          <a:p>
            <a:pPr>
              <a:spcBef>
                <a:spcPts val="500"/>
              </a:spcBef>
            </a:pPr>
            <a:r>
              <a:rPr sz="1100">
                <a:solidFill>
                  <a:srgbClr val="232B35"/>
                </a:solidFill>
              </a:rPr>
              <a:t>Test valid/invalid requests and UI behaviour.</a:t>
            </a:r>
          </a:p>
        </p:txBody>
      </p:sp>
      <p:sp>
        <p:nvSpPr>
          <p:cNvPr id="23" name="Rounded Rectangle 22"/>
          <p:cNvSpPr/>
          <p:nvPr/>
        </p:nvSpPr>
        <p:spPr>
          <a:xfrm>
            <a:off x="6263640" y="3657600"/>
            <a:ext cx="2560320" cy="182880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3640" y="3657600"/>
            <a:ext cx="73152" cy="182880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3803904"/>
            <a:ext cx="2148839" cy="1600200"/>
          </a:xfrm>
          <a:prstGeom prst="rect">
            <a:avLst/>
          </a:prstGeom>
          <a:noFill/>
        </p:spPr>
        <p:txBody>
          <a:bodyPr wrap="square">
            <a:spAutoFit/>
          </a:bodyPr>
          <a:lstStyle/>
          <a:p>
            <a:r>
              <a:rPr b="1" sz="1500">
                <a:solidFill>
                  <a:srgbClr val="121F31"/>
                </a:solidFill>
              </a:rPr>
              <a:t>PHASE 7: Debugging</a:t>
            </a:r>
          </a:p>
          <a:p>
            <a:pPr>
              <a:spcBef>
                <a:spcPts val="500"/>
              </a:spcBef>
            </a:pPr>
            <a:r>
              <a:rPr sz="1100">
                <a:solidFill>
                  <a:srgbClr val="232B35"/>
                </a:solidFill>
              </a:rPr>
              <a:t>Fix API, data and interface issues.</a:t>
            </a:r>
          </a:p>
        </p:txBody>
      </p:sp>
      <p:sp>
        <p:nvSpPr>
          <p:cNvPr id="26" name="Rounded Rectangle 25"/>
          <p:cNvSpPr/>
          <p:nvPr/>
        </p:nvSpPr>
        <p:spPr>
          <a:xfrm>
            <a:off x="9098280" y="3657600"/>
            <a:ext cx="2560320" cy="182880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98280" y="3657600"/>
            <a:ext cx="73152" cy="182880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3803904"/>
            <a:ext cx="2148839" cy="1600200"/>
          </a:xfrm>
          <a:prstGeom prst="rect">
            <a:avLst/>
          </a:prstGeom>
          <a:noFill/>
        </p:spPr>
        <p:txBody>
          <a:bodyPr wrap="square">
            <a:spAutoFit/>
          </a:bodyPr>
          <a:lstStyle/>
          <a:p>
            <a:r>
              <a:rPr b="1" sz="1500">
                <a:solidFill>
                  <a:srgbClr val="121F31"/>
                </a:solidFill>
              </a:rPr>
              <a:t>PHASE 8: Documentation</a:t>
            </a:r>
          </a:p>
          <a:p>
            <a:pPr>
              <a:spcBef>
                <a:spcPts val="500"/>
              </a:spcBef>
            </a:pPr>
            <a:r>
              <a:rPr sz="1100">
                <a:solidFill>
                  <a:srgbClr val="232B35"/>
                </a:solidFill>
              </a:rPr>
              <a:t>Record architecture, outcomes and future scope.</a:t>
            </a:r>
          </a:p>
        </p:txBody>
      </p:sp>
      <p:sp>
        <p:nvSpPr>
          <p:cNvPr id="29" name="Rectangle 28"/>
          <p:cNvSpPr/>
          <p:nvPr/>
        </p:nvSpPr>
        <p:spPr>
          <a:xfrm>
            <a:off x="594360" y="6473952"/>
            <a:ext cx="10972800" cy="13716"/>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492240"/>
            <a:ext cx="10698480" cy="228600"/>
          </a:xfrm>
          <a:prstGeom prst="rect">
            <a:avLst/>
          </a:prstGeom>
          <a:noFill/>
        </p:spPr>
        <p:txBody>
          <a:bodyPr wrap="none">
            <a:spAutoFit/>
          </a:bodyPr>
          <a:lstStyle/>
          <a:p>
            <a:pPr algn="r"/>
            <a:r>
              <a:rPr sz="800">
                <a:solidFill>
                  <a:srgbClr val="626C78"/>
                </a:solidFill>
              </a:rPr>
              <a:t>FULL-STACK DEVELOPMENT INTERNSHIP • AKSHAT MAURYA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822960"/>
          </a:xfrm>
          <a:prstGeom prst="rect">
            <a:avLst/>
          </a:prstGeom>
          <a:noFill/>
        </p:spPr>
        <p:txBody>
          <a:bodyPr wrap="none">
            <a:spAutoFit/>
          </a:bodyPr>
          <a:lstStyle/>
          <a:p>
            <a:r>
              <a:rPr sz="2400" b="1">
                <a:solidFill>
                  <a:srgbClr val="121F31"/>
                </a:solidFill>
                <a:latin typeface="Aptos Display"/>
              </a:rPr>
              <a:t>PROJECT: TASKFLOW</a:t>
            </a:r>
          </a:p>
        </p:txBody>
      </p:sp>
      <p:sp>
        <p:nvSpPr>
          <p:cNvPr id="4" name="TextBox 3"/>
          <p:cNvSpPr txBox="1"/>
          <p:nvPr/>
        </p:nvSpPr>
        <p:spPr>
          <a:xfrm>
            <a:off x="621792" y="960120"/>
            <a:ext cx="10789920" cy="365760"/>
          </a:xfrm>
          <a:prstGeom prst="rect">
            <a:avLst/>
          </a:prstGeom>
          <a:noFill/>
        </p:spPr>
        <p:txBody>
          <a:bodyPr wrap="none">
            <a:spAutoFit/>
          </a:bodyPr>
          <a:lstStyle/>
          <a:p>
            <a:r>
              <a:rPr sz="1200">
                <a:solidFill>
                  <a:srgbClr val="626C78"/>
                </a:solidFill>
              </a:rPr>
              <a:t>A simple full-stack task and project management application</a:t>
            </a:r>
          </a:p>
        </p:txBody>
      </p:sp>
      <p:sp>
        <p:nvSpPr>
          <p:cNvPr id="5" name="Rounded Rectangle 4"/>
          <p:cNvSpPr/>
          <p:nvPr/>
        </p:nvSpPr>
        <p:spPr>
          <a:xfrm>
            <a:off x="640080" y="1371600"/>
            <a:ext cx="5212080" cy="448056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73152" cy="4480560"/>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17904"/>
            <a:ext cx="4800600" cy="4251960"/>
          </a:xfrm>
          <a:prstGeom prst="rect">
            <a:avLst/>
          </a:prstGeom>
          <a:noFill/>
        </p:spPr>
        <p:txBody>
          <a:bodyPr wrap="square">
            <a:spAutoFit/>
          </a:bodyPr>
          <a:lstStyle/>
          <a:p>
            <a:r>
              <a:rPr b="1" sz="1500">
                <a:solidFill>
                  <a:srgbClr val="121F31"/>
                </a:solidFill>
              </a:rPr>
              <a:t>What the User Can Do</a:t>
            </a:r>
          </a:p>
          <a:p>
            <a:pPr>
              <a:spcBef>
                <a:spcPts val="500"/>
              </a:spcBef>
            </a:pPr>
            <a:r>
              <a:rPr sz="1100">
                <a:solidFill>
                  <a:srgbClr val="232B35"/>
                </a:solidFill>
              </a:rPr>
              <a:t>➕ Add a task
👀 View all tasks
✏️ Update task status
🗑️ Delete tasks
⭐ Set Low / Medium / High priority
🔎 Filter by task status
📊 View dashboard counts
TaskFlow keeps project work organized in one place.</a:t>
            </a:r>
          </a:p>
        </p:txBody>
      </p:sp>
      <p:sp>
        <p:nvSpPr>
          <p:cNvPr id="8" name="Rounded Rectangle 7"/>
          <p:cNvSpPr/>
          <p:nvPr/>
        </p:nvSpPr>
        <p:spPr>
          <a:xfrm>
            <a:off x="6126480" y="1371600"/>
            <a:ext cx="5394960" cy="4480560"/>
          </a:xfrm>
          <a:prstGeom prst="roundRect">
            <a:avLst/>
          </a:prstGeom>
          <a:solidFill>
            <a:srgbClr val="F1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0" y="1371600"/>
            <a:ext cx="73152" cy="4480560"/>
          </a:xfrm>
          <a:prstGeom prst="rect">
            <a:avLst/>
          </a:prstGeom>
          <a:solidFill>
            <a:srgbClr val="348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517904"/>
            <a:ext cx="4983480" cy="4251960"/>
          </a:xfrm>
          <a:prstGeom prst="rect">
            <a:avLst/>
          </a:prstGeom>
          <a:noFill/>
        </p:spPr>
        <p:txBody>
          <a:bodyPr wrap="square">
            <a:spAutoFit/>
          </a:bodyPr>
          <a:lstStyle/>
          <a:p>
            <a:r>
              <a:rPr b="1" sz="1500">
                <a:solidFill>
                  <a:srgbClr val="121F31"/>
                </a:solidFill>
              </a:rPr>
              <a:t>Core API Endpoints</a:t>
            </a:r>
          </a:p>
          <a:p>
            <a:pPr>
              <a:spcBef>
                <a:spcPts val="500"/>
              </a:spcBef>
            </a:pPr>
            <a:r>
              <a:rPr sz="1100">
                <a:solidFill>
                  <a:srgbClr val="232B35"/>
                </a:solidFill>
              </a:rPr>
              <a:t>GET    /api/tasks       → Fetch tasks
POST   /api/tasks       → Create task
PUT    /api/tasks/:id   → Update task
DELETE /api/tasks/:id   → Delete task
GET    /api/health      → Server health
Fields: title, description, priority, status, timestamps.</a:t>
            </a:r>
          </a:p>
        </p:txBody>
      </p:sp>
      <p:sp>
        <p:nvSpPr>
          <p:cNvPr id="11" name="Rectangle 10"/>
          <p:cNvSpPr/>
          <p:nvPr/>
        </p:nvSpPr>
        <p:spPr>
          <a:xfrm>
            <a:off x="594360" y="6473952"/>
            <a:ext cx="10972800" cy="13716"/>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492240"/>
            <a:ext cx="10698480" cy="228600"/>
          </a:xfrm>
          <a:prstGeom prst="rect">
            <a:avLst/>
          </a:prstGeom>
          <a:noFill/>
        </p:spPr>
        <p:txBody>
          <a:bodyPr wrap="none">
            <a:spAutoFit/>
          </a:bodyPr>
          <a:lstStyle/>
          <a:p>
            <a:pPr algn="r"/>
            <a:r>
              <a:rPr sz="800">
                <a:solidFill>
                  <a:srgbClr val="626C78"/>
                </a:solidFill>
              </a:rPr>
              <a:t>FULL-STACK DEVELOPMENT INTERNSHIP • AKSHAT MAURYA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822960"/>
          </a:xfrm>
          <a:prstGeom prst="rect">
            <a:avLst/>
          </a:prstGeom>
          <a:noFill/>
        </p:spPr>
        <p:txBody>
          <a:bodyPr wrap="none">
            <a:spAutoFit/>
          </a:bodyPr>
          <a:lstStyle/>
          <a:p>
            <a:r>
              <a:rPr sz="2400" b="1">
                <a:solidFill>
                  <a:srgbClr val="121F31"/>
                </a:solidFill>
                <a:latin typeface="Aptos Display"/>
              </a:rPr>
              <a:t>EXPECTED OUTCOMES</a:t>
            </a:r>
          </a:p>
        </p:txBody>
      </p:sp>
      <p:sp>
        <p:nvSpPr>
          <p:cNvPr id="4" name="TextBox 3"/>
          <p:cNvSpPr txBox="1"/>
          <p:nvPr/>
        </p:nvSpPr>
        <p:spPr>
          <a:xfrm>
            <a:off x="621792" y="960120"/>
            <a:ext cx="10789920" cy="365760"/>
          </a:xfrm>
          <a:prstGeom prst="rect">
            <a:avLst/>
          </a:prstGeom>
          <a:noFill/>
        </p:spPr>
        <p:txBody>
          <a:bodyPr wrap="none">
            <a:spAutoFit/>
          </a:bodyPr>
          <a:lstStyle/>
          <a:p>
            <a:r>
              <a:rPr sz="1200">
                <a:solidFill>
                  <a:srgbClr val="626C78"/>
                </a:solidFill>
              </a:rPr>
              <a:t>Skills and capabilities gained</a:t>
            </a:r>
          </a:p>
        </p:txBody>
      </p:sp>
      <p:sp>
        <p:nvSpPr>
          <p:cNvPr id="5" name="TextBox 4"/>
          <p:cNvSpPr txBox="1"/>
          <p:nvPr/>
        </p:nvSpPr>
        <p:spPr>
          <a:xfrm>
            <a:off x="822960" y="1371600"/>
            <a:ext cx="5212080" cy="4480560"/>
          </a:xfrm>
          <a:prstGeom prst="rect">
            <a:avLst/>
          </a:prstGeom>
          <a:noFill/>
        </p:spPr>
        <p:txBody>
          <a:bodyPr wrap="square">
            <a:spAutoFit/>
          </a:bodyPr>
          <a:lstStyle/>
          <a:p>
            <a:pPr>
              <a:spcAft>
                <a:spcPts val="800"/>
              </a:spcAft>
              <a:defRPr sz="1500">
                <a:solidFill>
                  <a:srgbClr val="232B35"/>
                </a:solidFill>
              </a:defRPr>
            </a:pPr>
            <a:r>
              <a:t>• Build reusable React components.</a:t>
            </a:r>
          </a:p>
          <a:p>
            <a:pPr>
              <a:spcAft>
                <a:spcPts val="800"/>
              </a:spcAft>
              <a:defRPr sz="1500">
                <a:solidFill>
                  <a:srgbClr val="232B35"/>
                </a:solidFill>
              </a:defRPr>
            </a:pPr>
            <a:r>
              <a:t>• Create and consume REST APIs.</a:t>
            </a:r>
          </a:p>
          <a:p>
            <a:pPr>
              <a:spcAft>
                <a:spcPts val="800"/>
              </a:spcAft>
              <a:defRPr sz="1500">
                <a:solidFill>
                  <a:srgbClr val="232B35"/>
                </a:solidFill>
              </a:defRPr>
            </a:pPr>
            <a:r>
              <a:t>• Understand Node.js and Express backend structure.</a:t>
            </a:r>
          </a:p>
          <a:p>
            <a:pPr>
              <a:spcAft>
                <a:spcPts val="800"/>
              </a:spcAft>
              <a:defRPr sz="1500">
                <a:solidFill>
                  <a:srgbClr val="232B35"/>
                </a:solidFill>
              </a:defRPr>
            </a:pPr>
            <a:r>
              <a:t>• Perform MongoDB CRUD operations.</a:t>
            </a:r>
          </a:p>
          <a:p>
            <a:pPr>
              <a:spcAft>
                <a:spcPts val="800"/>
              </a:spcAft>
              <a:defRPr sz="1500">
                <a:solidFill>
                  <a:srgbClr val="232B35"/>
                </a:solidFill>
              </a:defRPr>
            </a:pPr>
            <a:r>
              <a:t>• Apply input validation and error handling.</a:t>
            </a:r>
          </a:p>
          <a:p>
            <a:pPr>
              <a:spcAft>
                <a:spcPts val="800"/>
              </a:spcAft>
              <a:defRPr sz="1500">
                <a:solidFill>
                  <a:srgbClr val="232B35"/>
                </a:solidFill>
              </a:defRPr>
            </a:pPr>
            <a:r>
              <a:t>• Debug frontend and backend communication.</a:t>
            </a:r>
          </a:p>
        </p:txBody>
      </p:sp>
      <p:sp>
        <p:nvSpPr>
          <p:cNvPr id="6" name="TextBox 5"/>
          <p:cNvSpPr txBox="1"/>
          <p:nvPr/>
        </p:nvSpPr>
        <p:spPr>
          <a:xfrm>
            <a:off x="6217920" y="1371600"/>
            <a:ext cx="5212080" cy="4480560"/>
          </a:xfrm>
          <a:prstGeom prst="rect">
            <a:avLst/>
          </a:prstGeom>
          <a:noFill/>
        </p:spPr>
        <p:txBody>
          <a:bodyPr wrap="square">
            <a:spAutoFit/>
          </a:bodyPr>
          <a:lstStyle/>
          <a:p>
            <a:pPr>
              <a:spcAft>
                <a:spcPts val="800"/>
              </a:spcAft>
              <a:defRPr sz="1500">
                <a:solidFill>
                  <a:srgbClr val="232B35"/>
                </a:solidFill>
              </a:defRPr>
            </a:pPr>
            <a:r>
              <a:t>• Understand complete frontend-to-database flow.</a:t>
            </a:r>
          </a:p>
          <a:p>
            <a:pPr>
              <a:spcAft>
                <a:spcPts val="800"/>
              </a:spcAft>
              <a:defRPr sz="1500">
                <a:solidFill>
                  <a:srgbClr val="232B35"/>
                </a:solidFill>
              </a:defRPr>
            </a:pPr>
            <a:r>
              <a:t>• Use Git/GitHub for source-code management.</a:t>
            </a:r>
          </a:p>
          <a:p>
            <a:pPr>
              <a:spcAft>
                <a:spcPts val="800"/>
              </a:spcAft>
              <a:defRPr sz="1500">
                <a:solidFill>
                  <a:srgbClr val="232B35"/>
                </a:solidFill>
              </a:defRPr>
            </a:pPr>
            <a:r>
              <a:t>• Test APIs with realistic requests.</a:t>
            </a:r>
          </a:p>
          <a:p>
            <a:pPr>
              <a:spcAft>
                <a:spcPts val="800"/>
              </a:spcAft>
              <a:defRPr sz="1500">
                <a:solidFill>
                  <a:srgbClr val="232B35"/>
                </a:solidFill>
              </a:defRPr>
            </a:pPr>
            <a:r>
              <a:t>• Structure a project into maintainable modules.</a:t>
            </a:r>
          </a:p>
          <a:p>
            <a:pPr>
              <a:spcAft>
                <a:spcPts val="800"/>
              </a:spcAft>
              <a:defRPr sz="1500">
                <a:solidFill>
                  <a:srgbClr val="232B35"/>
                </a:solidFill>
              </a:defRPr>
            </a:pPr>
            <a:r>
              <a:t>• Identify production enhancements such as authentication and deployment.</a:t>
            </a:r>
          </a:p>
          <a:p>
            <a:pPr>
              <a:spcAft>
                <a:spcPts val="800"/>
              </a:spcAft>
              <a:defRPr sz="1500">
                <a:solidFill>
                  <a:srgbClr val="232B35"/>
                </a:solidFill>
              </a:defRPr>
            </a:pPr>
            <a:r>
              <a:t>• Apply internship learning to a practical application.</a:t>
            </a:r>
          </a:p>
        </p:txBody>
      </p:sp>
      <p:sp>
        <p:nvSpPr>
          <p:cNvPr id="7" name="Rectangle 6"/>
          <p:cNvSpPr/>
          <p:nvPr/>
        </p:nvSpPr>
        <p:spPr>
          <a:xfrm>
            <a:off x="594360" y="6473952"/>
            <a:ext cx="10972800" cy="13716"/>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10698480" cy="228600"/>
          </a:xfrm>
          <a:prstGeom prst="rect">
            <a:avLst/>
          </a:prstGeom>
          <a:noFill/>
        </p:spPr>
        <p:txBody>
          <a:bodyPr wrap="none">
            <a:spAutoFit/>
          </a:bodyPr>
          <a:lstStyle/>
          <a:p>
            <a:pPr algn="r"/>
            <a:r>
              <a:rPr sz="800">
                <a:solidFill>
                  <a:srgbClr val="626C78"/>
                </a:solidFill>
              </a:rPr>
              <a:t>FULL-STACK DEVELOPMENT INTERNSHIP • AKSHAT MAURYA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F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05840"/>
            <a:ext cx="10332720" cy="4754880"/>
          </a:xfrm>
          <a:prstGeom prst="rect">
            <a:avLst/>
          </a:prstGeom>
          <a:noFill/>
        </p:spPr>
        <p:txBody>
          <a:bodyPr wrap="none">
            <a:spAutoFit/>
          </a:bodyPr>
          <a:lstStyle/>
          <a:p>
            <a:pPr>
              <a:spcAft>
                <a:spcPts val="800"/>
              </a:spcAft>
              <a:defRPr sz="1600" b="1">
                <a:solidFill>
                  <a:srgbClr val="B4CDE6"/>
                </a:solidFill>
              </a:defRPr>
            </a:pPr>
            <a:r>
              <a:t>CERTIFICATION &amp; COMPLETION</a:t>
            </a:r>
          </a:p>
          <a:p>
            <a:pPr>
              <a:spcAft>
                <a:spcPts val="800"/>
              </a:spcAft>
              <a:defRPr sz="3200" b="1">
                <a:solidFill>
                  <a:srgbClr val="FFFFFF"/>
                </a:solidFill>
              </a:defRPr>
            </a:pPr>
            <a:r>
              <a:t>Successfully Completed</a:t>
            </a:r>
          </a:p>
          <a:p>
            <a:pPr>
              <a:spcAft>
                <a:spcPts val="800"/>
              </a:spcAft>
              <a:defRPr sz="1400" b="0">
                <a:solidFill>
                  <a:srgbClr val="FFFFFF"/>
                </a:solidFill>
              </a:defRPr>
            </a:pPr>
            <a:r>
              <a:t>Internship Domain: Full-Stack Development</a:t>
            </a:r>
          </a:p>
          <a:p>
            <a:pPr>
              <a:spcAft>
                <a:spcPts val="800"/>
              </a:spcAft>
              <a:defRPr sz="1400" b="0">
                <a:solidFill>
                  <a:srgbClr val="FFFFFF"/>
                </a:solidFill>
              </a:defRPr>
            </a:pPr>
            <a:r>
              <a:t>Organization: UniConverge Technologies / upSkillCampus</a:t>
            </a:r>
          </a:p>
          <a:p>
            <a:pPr>
              <a:spcAft>
                <a:spcPts val="800"/>
              </a:spcAft>
              <a:defRPr sz="1400" b="0">
                <a:solidFill>
                  <a:srgbClr val="FFFFFF"/>
                </a:solidFill>
              </a:defRPr>
            </a:pPr>
            <a:r>
              <a:t>Duration: 02 August – 30 August 2026</a:t>
            </a:r>
          </a:p>
          <a:p>
            <a:pPr>
              <a:spcAft>
                <a:spcPts val="800"/>
              </a:spcAft>
              <a:defRPr sz="1400" b="0">
                <a:solidFill>
                  <a:srgbClr val="FFFFFF"/>
                </a:solidFill>
              </a:defRPr>
            </a:pPr>
            <a:r>
              <a:t>Certificate ID: USC704188TIA</a:t>
            </a:r>
          </a:p>
          <a:p>
            <a:pPr>
              <a:spcAft>
                <a:spcPts val="800"/>
              </a:spcAft>
              <a:defRPr sz="1400" b="0">
                <a:solidFill>
                  <a:srgbClr val="FFFFFF"/>
                </a:solidFill>
              </a:defRPr>
            </a:pPr>
            <a:r>
              <a:t>Candidate: Akshat Maurya | Roll No. 2410030668</a:t>
            </a:r>
          </a:p>
          <a:p>
            <a:pPr>
              <a:spcAft>
                <a:spcPts val="800"/>
              </a:spcAft>
              <a:defRPr sz="2500" b="1">
                <a:solidFill>
                  <a:srgbClr val="FFFFFF"/>
                </a:solidFill>
              </a:defRPr>
            </a:pPr>
            <a:r>
              <a:t>Thank You</a:t>
            </a:r>
          </a:p>
        </p:txBody>
      </p:sp>
      <p:sp>
        <p:nvSpPr>
          <p:cNvPr id="4" name="Rectangle 3"/>
          <p:cNvSpPr/>
          <p:nvPr/>
        </p:nvSpPr>
        <p:spPr>
          <a:xfrm>
            <a:off x="594360" y="6473952"/>
            <a:ext cx="10972800" cy="13716"/>
          </a:xfrm>
          <a:prstGeom prst="rect">
            <a:avLst/>
          </a:prstGeom>
          <a:solidFill>
            <a:srgbClr val="2A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92240"/>
            <a:ext cx="10698480" cy="228600"/>
          </a:xfrm>
          <a:prstGeom prst="rect">
            <a:avLst/>
          </a:prstGeom>
          <a:noFill/>
        </p:spPr>
        <p:txBody>
          <a:bodyPr wrap="none">
            <a:spAutoFit/>
          </a:bodyPr>
          <a:lstStyle/>
          <a:p>
            <a:pPr algn="r"/>
            <a:r>
              <a:rPr sz="800">
                <a:solidFill>
                  <a:srgbClr val="626C78"/>
                </a:solidFill>
              </a:rPr>
              <a:t>FULL-STACK DEVELOPMENT INTERNSHIP • AKSHAT MAURYA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